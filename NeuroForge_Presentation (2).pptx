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80" r:id="rId4"/>
    <p:sldId id="260" r:id="rId5"/>
    <p:sldId id="261" r:id="rId6"/>
    <p:sldId id="263" r:id="rId7"/>
    <p:sldId id="264" r:id="rId8"/>
    <p:sldId id="270" r:id="rId9"/>
    <p:sldId id="271" r:id="rId10"/>
    <p:sldId id="272" r:id="rId11"/>
    <p:sldId id="273" r:id="rId12"/>
    <p:sldId id="274" r:id="rId13"/>
    <p:sldId id="275" r:id="rId14"/>
    <p:sldId id="276" r:id="rId15"/>
    <p:sldId id="277" r:id="rId16"/>
    <p:sldId id="278" r:id="rId17"/>
    <p:sldId id="279" r:id="rId18"/>
    <p:sldId id="269"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48"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45227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Replace the four bracketed fields with your team names, guide, organization and submission date.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0144813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4C49"/>
        </a:solidFill>
        <a:effectLst/>
      </p:bgPr>
    </p:bg>
    <p:spTree>
      <p:nvGrpSpPr>
        <p:cNvPr id="1" name=""/>
        <p:cNvGrpSpPr/>
        <p:nvPr/>
      </p:nvGrpSpPr>
      <p:grpSpPr>
        <a:xfrm>
          <a:off x="0" y="0"/>
          <a:ext cx="0" cy="0"/>
          <a:chOff x="0" y="0"/>
          <a:chExt cx="0" cy="0"/>
        </a:xfrm>
      </p:grpSpPr>
      <p:sp>
        <p:nvSpPr>
          <p:cNvPr id="2" name="Shape 0"/>
          <p:cNvSpPr/>
          <p:nvPr/>
        </p:nvSpPr>
        <p:spPr>
          <a:xfrm>
            <a:off x="8778240" y="-1737360"/>
            <a:ext cx="5669280" cy="5669280"/>
          </a:xfrm>
          <a:prstGeom prst="ellipse">
            <a:avLst/>
          </a:prstGeom>
          <a:solidFill>
            <a:srgbClr val="1F6F6B"/>
          </a:solidFill>
          <a:ln w="12700">
            <a:solidFill>
              <a:srgbClr val="333333"/>
            </a:solidFill>
            <a:prstDash val="solid"/>
          </a:ln>
        </p:spPr>
      </p:sp>
      <p:sp>
        <p:nvSpPr>
          <p:cNvPr id="3" name="Shape 1"/>
          <p:cNvSpPr/>
          <p:nvPr/>
        </p:nvSpPr>
        <p:spPr>
          <a:xfrm>
            <a:off x="10241280" y="4023360"/>
            <a:ext cx="3108960" cy="3108960"/>
          </a:xfrm>
          <a:prstGeom prst="ellipse">
            <a:avLst/>
          </a:prstGeom>
          <a:solidFill>
            <a:srgbClr val="C97B3C"/>
          </a:solidFill>
          <a:ln w="12700">
            <a:solidFill>
              <a:srgbClr val="333333"/>
            </a:solidFill>
            <a:prstDash val="solid"/>
          </a:ln>
        </p:spPr>
      </p:sp>
      <p:sp>
        <p:nvSpPr>
          <p:cNvPr id="4" name="Shape 2"/>
          <p:cNvSpPr/>
          <p:nvPr/>
        </p:nvSpPr>
        <p:spPr>
          <a:xfrm>
            <a:off x="548640" y="1234440"/>
            <a:ext cx="868680" cy="868680"/>
          </a:xfrm>
          <a:prstGeom prst="ellipse">
            <a:avLst/>
          </a:prstGeom>
          <a:solidFill>
            <a:srgbClr val="1F6F6B"/>
          </a:solidFill>
          <a:ln w="12700">
            <a:solidFill>
              <a:srgbClr val="1F6F6B"/>
            </a:solidFill>
            <a:prstDash val="solid"/>
          </a:ln>
        </p:spPr>
      </p:sp>
      <p:pic>
        <p:nvPicPr>
          <p:cNvPr id="5" name="Image 0" descr="preencoded.png"/>
          <p:cNvPicPr>
            <a:picLocks noChangeAspect="1"/>
          </p:cNvPicPr>
          <p:nvPr/>
        </p:nvPicPr>
        <p:blipFill>
          <a:blip r:embed="rId3"/>
          <a:stretch>
            <a:fillRect/>
          </a:stretch>
        </p:blipFill>
        <p:spPr>
          <a:xfrm>
            <a:off x="774497" y="1460297"/>
            <a:ext cx="416966" cy="416966"/>
          </a:xfrm>
          <a:prstGeom prst="rect">
            <a:avLst/>
          </a:prstGeom>
        </p:spPr>
      </p:pic>
      <p:sp>
        <p:nvSpPr>
          <p:cNvPr id="6" name="Text 3"/>
          <p:cNvSpPr/>
          <p:nvPr/>
        </p:nvSpPr>
        <p:spPr>
          <a:xfrm>
            <a:off x="548640" y="2286000"/>
            <a:ext cx="8778240" cy="868680"/>
          </a:xfrm>
          <a:prstGeom prst="rect">
            <a:avLst/>
          </a:prstGeom>
          <a:noFill/>
          <a:ln/>
        </p:spPr>
        <p:txBody>
          <a:bodyPr wrap="square" lIns="0" tIns="0" rIns="0" bIns="0" rtlCol="0" anchor="ctr"/>
          <a:lstStyle/>
          <a:p>
            <a:pPr marL="0" indent="0">
              <a:buNone/>
            </a:pPr>
            <a:r>
              <a:rPr lang="en-US" sz="5200" b="1" dirty="0">
                <a:solidFill>
                  <a:srgbClr val="FFFFFF"/>
                </a:solidFill>
                <a:latin typeface="Cambria" pitchFamily="34" charset="0"/>
                <a:ea typeface="Cambria" pitchFamily="34" charset="-122"/>
                <a:cs typeface="Cambria" pitchFamily="34" charset="-120"/>
              </a:rPr>
              <a:t>NeuroForge</a:t>
            </a:r>
            <a:endParaRPr lang="en-US" sz="5200" dirty="0"/>
          </a:p>
        </p:txBody>
      </p:sp>
      <p:sp>
        <p:nvSpPr>
          <p:cNvPr id="7" name="Text 4"/>
          <p:cNvSpPr/>
          <p:nvPr/>
        </p:nvSpPr>
        <p:spPr>
          <a:xfrm>
            <a:off x="548640" y="3108960"/>
            <a:ext cx="8778240" cy="822960"/>
          </a:xfrm>
          <a:prstGeom prst="rect">
            <a:avLst/>
          </a:prstGeom>
          <a:noFill/>
          <a:ln/>
        </p:spPr>
        <p:txBody>
          <a:bodyPr wrap="square" lIns="0" tIns="0" rIns="0" bIns="0" rtlCol="0" anchor="ctr"/>
          <a:lstStyle/>
          <a:p>
            <a:r>
              <a:rPr lang="en-US" sz="3000" dirty="0">
                <a:solidFill>
                  <a:srgbClr val="BFD6D3"/>
                </a:solidFill>
                <a:latin typeface="Cambria" pitchFamily="34" charset="0"/>
                <a:ea typeface="Cambria" pitchFamily="34" charset="-122"/>
                <a:cs typeface="Cambria" pitchFamily="34" charset="-120"/>
              </a:rPr>
              <a:t>Enterprise Software Lifecycle and DevOps Management System</a:t>
            </a:r>
            <a:endParaRPr lang="en-US" sz="3000" dirty="0"/>
          </a:p>
        </p:txBody>
      </p:sp>
      <p:sp>
        <p:nvSpPr>
          <p:cNvPr id="8" name="Text 5"/>
          <p:cNvSpPr/>
          <p:nvPr/>
        </p:nvSpPr>
        <p:spPr>
          <a:xfrm>
            <a:off x="548640" y="3977640"/>
            <a:ext cx="8778240" cy="365760"/>
          </a:xfrm>
          <a:prstGeom prst="rect">
            <a:avLst/>
          </a:prstGeom>
          <a:noFill/>
          <a:ln/>
        </p:spPr>
        <p:txBody>
          <a:bodyPr wrap="square" lIns="0" tIns="0" rIns="0" bIns="0" rtlCol="0" anchor="ctr"/>
          <a:lstStyle/>
          <a:p>
            <a:pPr marL="0" indent="0">
              <a:buNone/>
            </a:pPr>
            <a:r>
              <a:rPr lang="en-US" sz="1400" b="1" kern="0" spc="200" dirty="0" smtClean="0">
                <a:solidFill>
                  <a:srgbClr val="C97B3C"/>
                </a:solidFill>
                <a:latin typeface="Calibri" pitchFamily="34" charset="0"/>
                <a:ea typeface="Calibri" pitchFamily="34" charset="-122"/>
                <a:cs typeface="Calibri" pitchFamily="34" charset="-120"/>
              </a:rPr>
              <a:t>MILESTONE 1</a:t>
            </a:r>
            <a:endParaRPr lang="en-US" sz="1400" dirty="0"/>
          </a:p>
        </p:txBody>
      </p:sp>
      <p:sp>
        <p:nvSpPr>
          <p:cNvPr id="9" name="Shape 6"/>
          <p:cNvSpPr/>
          <p:nvPr/>
        </p:nvSpPr>
        <p:spPr>
          <a:xfrm>
            <a:off x="548640" y="4434840"/>
            <a:ext cx="2926080" cy="0"/>
          </a:xfrm>
          <a:prstGeom prst="line">
            <a:avLst/>
          </a:prstGeom>
          <a:noFill/>
          <a:ln w="19050">
            <a:solidFill>
              <a:srgbClr val="3E7C78"/>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marL="0" indent="0" algn="l">
              <a:buNone/>
            </a:pPr>
            <a:r>
              <a:rPr lang="en-US" sz="3200" b="1" dirty="0">
                <a:solidFill>
                  <a:srgbClr val="1F6F6B"/>
                </a:solidFill>
                <a:latin typeface="Cambria" pitchFamily="34" charset="0"/>
                <a:ea typeface="Cambria" pitchFamily="34" charset="-122"/>
                <a:cs typeface="Cambria" pitchFamily="34" charset="-120"/>
              </a:rPr>
              <a:t>Introduction</a:t>
            </a:r>
            <a:endParaRPr lang="en-US" sz="3200" dirty="0"/>
          </a:p>
        </p:txBody>
      </p:sp>
      <p:sp>
        <p:nvSpPr>
          <p:cNvPr id="3" name="Shape 1"/>
          <p:cNvSpPr/>
          <p:nvPr/>
        </p:nvSpPr>
        <p:spPr>
          <a:xfrm>
            <a:off x="548640" y="1417320"/>
            <a:ext cx="5318608" cy="4480560"/>
          </a:xfrm>
          <a:prstGeom prst="roundRect">
            <a:avLst>
              <a:gd name="adj" fmla="val 1633"/>
            </a:avLst>
          </a:prstGeom>
          <a:solidFill>
            <a:srgbClr val="FFFFFF"/>
          </a:solidFill>
          <a:ln w="12700">
            <a:solidFill>
              <a:srgbClr val="DFDBD2"/>
            </a:solidFill>
            <a:prstDash val="solid"/>
          </a:ln>
          <a:effectLst>
            <a:outerShdw blurRad="76200" dist="12700" dir="5400000" algn="bl" rotWithShape="0">
              <a:srgbClr val="9A948A">
                <a:alpha val="18000"/>
              </a:srgbClr>
            </a:outerShdw>
          </a:effectLst>
        </p:spPr>
      </p:sp>
      <p:sp>
        <p:nvSpPr>
          <p:cNvPr id="4" name="Shape 2"/>
          <p:cNvSpPr/>
          <p:nvPr/>
        </p:nvSpPr>
        <p:spPr>
          <a:xfrm>
            <a:off x="868680" y="1737360"/>
            <a:ext cx="640080" cy="640080"/>
          </a:xfrm>
          <a:prstGeom prst="ellipse">
            <a:avLst/>
          </a:prstGeom>
          <a:solidFill>
            <a:srgbClr val="E3EDEB"/>
          </a:solidFill>
          <a:ln w="12700">
            <a:solidFill>
              <a:srgbClr val="E3EDEB"/>
            </a:solidFill>
            <a:prstDash val="solid"/>
          </a:ln>
        </p:spPr>
      </p:sp>
      <p:pic>
        <p:nvPicPr>
          <p:cNvPr id="5" name="Image 0" descr="preencoded.png"/>
          <p:cNvPicPr>
            <a:picLocks noChangeAspect="1"/>
          </p:cNvPicPr>
          <p:nvPr/>
        </p:nvPicPr>
        <p:blipFill>
          <a:blip r:embed="rId3"/>
          <a:stretch>
            <a:fillRect/>
          </a:stretch>
        </p:blipFill>
        <p:spPr>
          <a:xfrm>
            <a:off x="1035101" y="1903781"/>
            <a:ext cx="307238" cy="307238"/>
          </a:xfrm>
          <a:prstGeom prst="rect">
            <a:avLst/>
          </a:prstGeom>
        </p:spPr>
      </p:pic>
      <p:sp>
        <p:nvSpPr>
          <p:cNvPr id="6" name="Text 3"/>
          <p:cNvSpPr/>
          <p:nvPr/>
        </p:nvSpPr>
        <p:spPr>
          <a:xfrm>
            <a:off x="1645920" y="1847088"/>
            <a:ext cx="3947008" cy="411480"/>
          </a:xfrm>
          <a:prstGeom prst="rect">
            <a:avLst/>
          </a:prstGeom>
          <a:noFill/>
          <a:ln/>
        </p:spPr>
        <p:txBody>
          <a:bodyPr wrap="square" lIns="0" tIns="0" rIns="0" bIns="0" rtlCol="0" anchor="ctr"/>
          <a:lstStyle/>
          <a:p>
            <a:pPr marL="0" indent="0">
              <a:buNone/>
            </a:pPr>
            <a:r>
              <a:rPr lang="en-US" sz="2200" b="1" dirty="0">
                <a:solidFill>
                  <a:srgbClr val="1F6F6B"/>
                </a:solidFill>
                <a:latin typeface="Cambria" pitchFamily="34" charset="0"/>
                <a:ea typeface="Cambria" pitchFamily="34" charset="-122"/>
                <a:cs typeface="Cambria" pitchFamily="34" charset="-120"/>
              </a:rPr>
              <a:t>Purpose</a:t>
            </a:r>
            <a:endParaRPr lang="en-US" sz="2200" dirty="0"/>
          </a:p>
        </p:txBody>
      </p:sp>
      <p:sp>
        <p:nvSpPr>
          <p:cNvPr id="7" name="Text 4"/>
          <p:cNvSpPr/>
          <p:nvPr/>
        </p:nvSpPr>
        <p:spPr>
          <a:xfrm>
            <a:off x="868680" y="2606040"/>
            <a:ext cx="4678528" cy="3017520"/>
          </a:xfrm>
          <a:prstGeom prst="rect">
            <a:avLst/>
          </a:prstGeom>
          <a:noFill/>
          <a:ln/>
        </p:spPr>
        <p:txBody>
          <a:bodyPr wrap="square" lIns="0" tIns="0" rIns="0" bIns="0" rtlCol="0" anchor="ctr"/>
          <a:lstStyle/>
          <a:p>
            <a:pPr marL="0" indent="0" algn="just">
              <a:lnSpc>
                <a:spcPts val="2200"/>
              </a:lnSpc>
              <a:buNone/>
            </a:pPr>
            <a:r>
              <a:rPr lang="en-US" sz="1450" dirty="0">
                <a:solidFill>
                  <a:srgbClr val="2E3A3A"/>
                </a:solidFill>
                <a:latin typeface="Calibri" pitchFamily="34" charset="0"/>
                <a:ea typeface="Calibri" pitchFamily="34" charset="-122"/>
                <a:cs typeface="Calibri" pitchFamily="34" charset="-120"/>
              </a:rPr>
              <a:t>NeuroForge is an AI-powered platform that automates and manages the complete Software Development Life Cycle — requirement gathering, planning, design, coding, testing, deployment, monitoring and maintenance — inside a single integrated workspace. Its purpose is to replace the disconnected tool-chain most engineering teams rely on today with one centralized environment in which every stage is assisted by AI and every artefact remains traceable back to the requirement that produced it.</a:t>
            </a:r>
            <a:endParaRPr lang="en-US" sz="1450" dirty="0"/>
          </a:p>
        </p:txBody>
      </p:sp>
      <p:sp>
        <p:nvSpPr>
          <p:cNvPr id="8" name="Shape 5"/>
          <p:cNvSpPr/>
          <p:nvPr/>
        </p:nvSpPr>
        <p:spPr>
          <a:xfrm>
            <a:off x="6324448" y="1417320"/>
            <a:ext cx="5318608" cy="4480560"/>
          </a:xfrm>
          <a:prstGeom prst="roundRect">
            <a:avLst>
              <a:gd name="adj" fmla="val 1633"/>
            </a:avLst>
          </a:prstGeom>
          <a:solidFill>
            <a:srgbClr val="FFFFFF"/>
          </a:solidFill>
          <a:ln w="12700">
            <a:solidFill>
              <a:srgbClr val="DFDBD2"/>
            </a:solidFill>
            <a:prstDash val="solid"/>
          </a:ln>
          <a:effectLst>
            <a:outerShdw blurRad="76200" dist="12700" dir="5400000" algn="bl" rotWithShape="0">
              <a:srgbClr val="9A948A">
                <a:alpha val="18000"/>
              </a:srgbClr>
            </a:outerShdw>
          </a:effectLst>
        </p:spPr>
      </p:sp>
      <p:sp>
        <p:nvSpPr>
          <p:cNvPr id="9" name="Shape 6"/>
          <p:cNvSpPr/>
          <p:nvPr/>
        </p:nvSpPr>
        <p:spPr>
          <a:xfrm>
            <a:off x="6644488" y="1737360"/>
            <a:ext cx="640080" cy="640080"/>
          </a:xfrm>
          <a:prstGeom prst="ellipse">
            <a:avLst/>
          </a:prstGeom>
          <a:solidFill>
            <a:srgbClr val="E3EDEB"/>
          </a:solidFill>
          <a:ln w="12700">
            <a:solidFill>
              <a:srgbClr val="E3EDEB"/>
            </a:solidFill>
            <a:prstDash val="solid"/>
          </a:ln>
        </p:spPr>
      </p:sp>
      <p:pic>
        <p:nvPicPr>
          <p:cNvPr id="10" name="Image 1" descr="preencoded.png"/>
          <p:cNvPicPr>
            <a:picLocks noChangeAspect="1"/>
          </p:cNvPicPr>
          <p:nvPr/>
        </p:nvPicPr>
        <p:blipFill>
          <a:blip r:embed="rId4"/>
          <a:stretch>
            <a:fillRect/>
          </a:stretch>
        </p:blipFill>
        <p:spPr>
          <a:xfrm>
            <a:off x="6810908" y="1903781"/>
            <a:ext cx="307238" cy="307238"/>
          </a:xfrm>
          <a:prstGeom prst="rect">
            <a:avLst/>
          </a:prstGeom>
        </p:spPr>
      </p:pic>
      <p:sp>
        <p:nvSpPr>
          <p:cNvPr id="11" name="Text 7"/>
          <p:cNvSpPr/>
          <p:nvPr/>
        </p:nvSpPr>
        <p:spPr>
          <a:xfrm>
            <a:off x="7421728" y="1847088"/>
            <a:ext cx="3947008" cy="411480"/>
          </a:xfrm>
          <a:prstGeom prst="rect">
            <a:avLst/>
          </a:prstGeom>
          <a:noFill/>
          <a:ln/>
        </p:spPr>
        <p:txBody>
          <a:bodyPr wrap="square" lIns="0" tIns="0" rIns="0" bIns="0" rtlCol="0" anchor="ctr"/>
          <a:lstStyle/>
          <a:p>
            <a:pPr marL="0" indent="0">
              <a:buNone/>
            </a:pPr>
            <a:r>
              <a:rPr lang="en-US" sz="2200" b="1" dirty="0">
                <a:solidFill>
                  <a:srgbClr val="1F6F6B"/>
                </a:solidFill>
                <a:latin typeface="Cambria" pitchFamily="34" charset="0"/>
                <a:ea typeface="Cambria" pitchFamily="34" charset="-122"/>
                <a:cs typeface="Cambria" pitchFamily="34" charset="-120"/>
              </a:rPr>
              <a:t>Scope</a:t>
            </a:r>
            <a:endParaRPr lang="en-US" sz="2200" dirty="0"/>
          </a:p>
        </p:txBody>
      </p:sp>
      <p:sp>
        <p:nvSpPr>
          <p:cNvPr id="12" name="Text 8"/>
          <p:cNvSpPr/>
          <p:nvPr/>
        </p:nvSpPr>
        <p:spPr>
          <a:xfrm>
            <a:off x="6644488" y="2606040"/>
            <a:ext cx="4678528" cy="3017520"/>
          </a:xfrm>
          <a:prstGeom prst="rect">
            <a:avLst/>
          </a:prstGeom>
          <a:noFill/>
          <a:ln/>
        </p:spPr>
        <p:txBody>
          <a:bodyPr wrap="square" lIns="0" tIns="0" rIns="0" bIns="0" rtlCol="0" anchor="ctr"/>
          <a:lstStyle/>
          <a:p>
            <a:pPr marL="0" indent="0" algn="just">
              <a:lnSpc>
                <a:spcPts val="2200"/>
              </a:lnSpc>
              <a:buNone/>
            </a:pPr>
            <a:r>
              <a:rPr lang="en-US" sz="1450" dirty="0">
                <a:solidFill>
                  <a:srgbClr val="2E3A3A"/>
                </a:solidFill>
                <a:latin typeface="Calibri" pitchFamily="34" charset="0"/>
                <a:ea typeface="Calibri" pitchFamily="34" charset="-122"/>
                <a:cs typeface="Calibri" pitchFamily="34" charset="-120"/>
              </a:rPr>
              <a:t>The platform supports project teams from requirement capture through implementation, testing, deployment and long-term maintenance. It covers role-based access for nine user types, AI-assisted code and documentation generation, </a:t>
            </a:r>
            <a:r>
              <a:rPr lang="en-US" sz="1450" dirty="0" smtClean="0">
                <a:solidFill>
                  <a:srgbClr val="2E3A3A"/>
                </a:solidFill>
                <a:latin typeface="Calibri" pitchFamily="34" charset="0"/>
                <a:ea typeface="Calibri" pitchFamily="34" charset="-122"/>
                <a:cs typeface="Calibri" pitchFamily="34" charset="-120"/>
              </a:rPr>
              <a:t>automated </a:t>
            </a:r>
            <a:r>
              <a:rPr lang="en-US" sz="1450" dirty="0">
                <a:solidFill>
                  <a:srgbClr val="2E3A3A"/>
                </a:solidFill>
                <a:latin typeface="Calibri" pitchFamily="34" charset="0"/>
                <a:ea typeface="Calibri" pitchFamily="34" charset="-122"/>
                <a:cs typeface="Calibri" pitchFamily="34" charset="-120"/>
              </a:rPr>
              <a:t>testing and bug tracking, CI/CD orchestration, real-time analytics dashboards and performance monitoring. The goal is to reduce manual effort and shorten delivery time while keeping the process structured, auditable and traceable.</a:t>
            </a:r>
            <a:endParaRPr lang="en-US" sz="1450" dirty="0"/>
          </a:p>
        </p:txBody>
      </p:sp>
      <p:sp>
        <p:nvSpPr>
          <p:cNvPr id="13" name="Text 9"/>
          <p:cNvSpPr/>
          <p:nvPr/>
        </p:nvSpPr>
        <p:spPr>
          <a:xfrm>
            <a:off x="548640" y="6272784"/>
            <a:ext cx="7315200" cy="274320"/>
          </a:xfrm>
          <a:prstGeom prst="rect">
            <a:avLst/>
          </a:prstGeom>
          <a:noFill/>
          <a:ln/>
        </p:spPr>
        <p:txBody>
          <a:bodyPr wrap="square" lIns="0" tIns="0" rIns="0" bIns="0" rtlCol="0" anchor="ctr"/>
          <a:lstStyle/>
          <a:p>
            <a:pPr marL="0" indent="0" algn="l">
              <a:buNone/>
            </a:pPr>
            <a:r>
              <a:rPr lang="en-US" sz="1000" dirty="0">
                <a:solidFill>
                  <a:srgbClr val="6B7A79"/>
                </a:solidFill>
                <a:latin typeface="Calibri" pitchFamily="34" charset="0"/>
                <a:ea typeface="Calibri" pitchFamily="34" charset="-122"/>
                <a:cs typeface="Calibri" pitchFamily="34" charset="-120"/>
              </a:rPr>
              <a:t>NeuroForge Enterprise SDLC Platform</a:t>
            </a:r>
            <a:endParaRPr lang="en-US" sz="1000" dirty="0"/>
          </a:p>
        </p:txBody>
      </p:sp>
      <p:sp>
        <p:nvSpPr>
          <p:cNvPr id="14" name="Text 10"/>
          <p:cNvSpPr/>
          <p:nvPr/>
        </p:nvSpPr>
        <p:spPr>
          <a:xfrm>
            <a:off x="10545775" y="6272784"/>
            <a:ext cx="1097280" cy="274320"/>
          </a:xfrm>
          <a:prstGeom prst="rect">
            <a:avLst/>
          </a:prstGeom>
          <a:noFill/>
          <a:ln/>
        </p:spPr>
        <p:txBody>
          <a:bodyPr wrap="square" lIns="0" tIns="0" rIns="0" bIns="0" rtlCol="0" anchor="ctr"/>
          <a:lstStyle/>
          <a:p>
            <a:pPr marL="0" indent="0" algn="r">
              <a:buNone/>
            </a:pPr>
            <a:r>
              <a:rPr lang="en-US" sz="1000" dirty="0">
                <a:solidFill>
                  <a:srgbClr val="6B7A79"/>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marL="0" indent="0" algn="l">
              <a:buNone/>
            </a:pPr>
            <a:r>
              <a:rPr lang="en-US" sz="3200" b="1" dirty="0">
                <a:solidFill>
                  <a:srgbClr val="1F6F6B"/>
                </a:solidFill>
                <a:latin typeface="Cambria" pitchFamily="34" charset="0"/>
                <a:ea typeface="Cambria" pitchFamily="34" charset="-122"/>
                <a:cs typeface="Cambria" pitchFamily="34" charset="-120"/>
              </a:rPr>
              <a:t>Problem Statement</a:t>
            </a:r>
            <a:endParaRPr lang="en-US" sz="3200" dirty="0"/>
          </a:p>
        </p:txBody>
      </p:sp>
      <p:sp>
        <p:nvSpPr>
          <p:cNvPr id="3" name="Text 1"/>
          <p:cNvSpPr/>
          <p:nvPr/>
        </p:nvSpPr>
        <p:spPr>
          <a:xfrm>
            <a:off x="548640" y="950976"/>
            <a:ext cx="11094415" cy="310896"/>
          </a:xfrm>
          <a:prstGeom prst="rect">
            <a:avLst/>
          </a:prstGeom>
          <a:noFill/>
          <a:ln/>
        </p:spPr>
        <p:txBody>
          <a:bodyPr wrap="square" lIns="0" tIns="0" rIns="0" bIns="0" rtlCol="0" anchor="ctr"/>
          <a:lstStyle/>
          <a:p>
            <a:pPr marL="0" indent="0" algn="l">
              <a:buNone/>
            </a:pPr>
            <a:r>
              <a:rPr lang="en-US" sz="1400" i="1" dirty="0">
                <a:solidFill>
                  <a:srgbClr val="6B7A79"/>
                </a:solidFill>
                <a:latin typeface="Calibri" pitchFamily="34" charset="0"/>
                <a:ea typeface="Calibri" pitchFamily="34" charset="-122"/>
                <a:cs typeface="Calibri" pitchFamily="34" charset="-120"/>
              </a:rPr>
              <a:t>Enterprise teams manage requirements, design, coding, testing and deployment in separate disconnected tools — which slows delivery and multiplies errors.</a:t>
            </a:r>
            <a:endParaRPr lang="en-US" sz="1400" dirty="0"/>
          </a:p>
        </p:txBody>
      </p:sp>
      <p:sp>
        <p:nvSpPr>
          <p:cNvPr id="4" name="Shape 2"/>
          <p:cNvSpPr/>
          <p:nvPr/>
        </p:nvSpPr>
        <p:spPr>
          <a:xfrm>
            <a:off x="548640" y="1874520"/>
            <a:ext cx="5272888" cy="4023360"/>
          </a:xfrm>
          <a:prstGeom prst="roundRect">
            <a:avLst>
              <a:gd name="adj" fmla="val 1818"/>
            </a:avLst>
          </a:prstGeom>
          <a:solidFill>
            <a:srgbClr val="FFFFFF"/>
          </a:solidFill>
          <a:ln w="12700">
            <a:solidFill>
              <a:srgbClr val="DFDBD2"/>
            </a:solidFill>
            <a:prstDash val="solid"/>
          </a:ln>
          <a:effectLst>
            <a:outerShdw blurRad="76200" dist="12700" dir="5400000" algn="bl" rotWithShape="0">
              <a:srgbClr val="9A948A">
                <a:alpha val="18000"/>
              </a:srgbClr>
            </a:outerShdw>
          </a:effectLst>
        </p:spPr>
      </p:sp>
      <p:sp>
        <p:nvSpPr>
          <p:cNvPr id="5" name="Text 3"/>
          <p:cNvSpPr/>
          <p:nvPr/>
        </p:nvSpPr>
        <p:spPr>
          <a:xfrm>
            <a:off x="868680" y="2057400"/>
            <a:ext cx="4632808" cy="365760"/>
          </a:xfrm>
          <a:prstGeom prst="rect">
            <a:avLst/>
          </a:prstGeom>
          <a:noFill/>
          <a:ln/>
        </p:spPr>
        <p:txBody>
          <a:bodyPr wrap="square" lIns="0" tIns="0" rIns="0" bIns="0" rtlCol="0" anchor="ctr"/>
          <a:lstStyle/>
          <a:p>
            <a:pPr marL="0" indent="0">
              <a:buNone/>
            </a:pPr>
            <a:r>
              <a:rPr lang="en-US" sz="2100" b="1" dirty="0">
                <a:solidFill>
                  <a:srgbClr val="8C4A3C"/>
                </a:solidFill>
                <a:latin typeface="Cambria" pitchFamily="34" charset="0"/>
                <a:ea typeface="Cambria" pitchFamily="34" charset="-122"/>
                <a:cs typeface="Cambria" pitchFamily="34" charset="-120"/>
              </a:rPr>
              <a:t>Current state</a:t>
            </a:r>
            <a:endParaRPr lang="en-US" sz="2100" dirty="0"/>
          </a:p>
        </p:txBody>
      </p:sp>
      <p:sp>
        <p:nvSpPr>
          <p:cNvPr id="6" name="Text 4"/>
          <p:cNvSpPr/>
          <p:nvPr/>
        </p:nvSpPr>
        <p:spPr>
          <a:xfrm>
            <a:off x="868680" y="2432304"/>
            <a:ext cx="4632808" cy="274320"/>
          </a:xfrm>
          <a:prstGeom prst="rect">
            <a:avLst/>
          </a:prstGeom>
          <a:noFill/>
          <a:ln/>
        </p:spPr>
        <p:txBody>
          <a:bodyPr wrap="square" lIns="0" tIns="0" rIns="0" bIns="0" rtlCol="0" anchor="ctr"/>
          <a:lstStyle/>
          <a:p>
            <a:pPr marL="0" indent="0">
              <a:buNone/>
            </a:pPr>
            <a:r>
              <a:rPr lang="en-US" sz="1250" i="1" dirty="0">
                <a:solidFill>
                  <a:srgbClr val="6B7A79"/>
                </a:solidFill>
                <a:latin typeface="Calibri" pitchFamily="34" charset="0"/>
                <a:ea typeface="Calibri" pitchFamily="34" charset="-122"/>
                <a:cs typeface="Calibri" pitchFamily="34" charset="-120"/>
              </a:rPr>
              <a:t>A fragmented tool-chain</a:t>
            </a:r>
            <a:endParaRPr lang="en-US" sz="1250" dirty="0"/>
          </a:p>
        </p:txBody>
      </p:sp>
      <p:pic>
        <p:nvPicPr>
          <p:cNvPr id="7" name="Image 0" descr="preencoded.png"/>
          <p:cNvPicPr>
            <a:picLocks noChangeAspect="1"/>
          </p:cNvPicPr>
          <p:nvPr/>
        </p:nvPicPr>
        <p:blipFill>
          <a:blip r:embed="rId3"/>
          <a:stretch>
            <a:fillRect/>
          </a:stretch>
        </p:blipFill>
        <p:spPr>
          <a:xfrm>
            <a:off x="868680" y="2889504"/>
            <a:ext cx="201168" cy="201168"/>
          </a:xfrm>
          <a:prstGeom prst="rect">
            <a:avLst/>
          </a:prstGeom>
        </p:spPr>
      </p:pic>
      <p:sp>
        <p:nvSpPr>
          <p:cNvPr id="8" name="Text 5"/>
          <p:cNvSpPr/>
          <p:nvPr/>
        </p:nvSpPr>
        <p:spPr>
          <a:xfrm>
            <a:off x="1170432" y="2834640"/>
            <a:ext cx="4312768" cy="566928"/>
          </a:xfrm>
          <a:prstGeom prst="rect">
            <a:avLst/>
          </a:prstGeom>
          <a:noFill/>
          <a:ln/>
        </p:spPr>
        <p:txBody>
          <a:bodyPr wrap="square" lIns="0" tIns="0" rIns="0" bIns="0" rtlCol="0" anchor="ctr"/>
          <a:lstStyle/>
          <a:p>
            <a:pPr marL="0" indent="0">
              <a:lnSpc>
                <a:spcPts val="1800"/>
              </a:lnSpc>
              <a:buNone/>
            </a:pPr>
            <a:r>
              <a:rPr lang="en-US" sz="1400" dirty="0">
                <a:solidFill>
                  <a:srgbClr val="2E3A3A"/>
                </a:solidFill>
                <a:latin typeface="Calibri" pitchFamily="34" charset="0"/>
                <a:ea typeface="Calibri" pitchFamily="34" charset="-122"/>
                <a:cs typeface="Calibri" pitchFamily="34" charset="-120"/>
              </a:rPr>
              <a:t>Requirements live in documents, tasks in a tracker, code in Git, tests in a fourth tool</a:t>
            </a:r>
            <a:endParaRPr lang="en-US" sz="1400" dirty="0"/>
          </a:p>
        </p:txBody>
      </p:sp>
      <p:pic>
        <p:nvPicPr>
          <p:cNvPr id="9" name="Image 1" descr="preencoded.png"/>
          <p:cNvPicPr>
            <a:picLocks noChangeAspect="1"/>
          </p:cNvPicPr>
          <p:nvPr/>
        </p:nvPicPr>
        <p:blipFill>
          <a:blip r:embed="rId3"/>
          <a:stretch>
            <a:fillRect/>
          </a:stretch>
        </p:blipFill>
        <p:spPr>
          <a:xfrm>
            <a:off x="868680" y="3493008"/>
            <a:ext cx="201168" cy="201168"/>
          </a:xfrm>
          <a:prstGeom prst="rect">
            <a:avLst/>
          </a:prstGeom>
        </p:spPr>
      </p:pic>
      <p:sp>
        <p:nvSpPr>
          <p:cNvPr id="10" name="Text 6"/>
          <p:cNvSpPr/>
          <p:nvPr/>
        </p:nvSpPr>
        <p:spPr>
          <a:xfrm>
            <a:off x="1170432" y="3438144"/>
            <a:ext cx="4312768" cy="566928"/>
          </a:xfrm>
          <a:prstGeom prst="rect">
            <a:avLst/>
          </a:prstGeom>
          <a:noFill/>
          <a:ln/>
        </p:spPr>
        <p:txBody>
          <a:bodyPr wrap="square" lIns="0" tIns="0" rIns="0" bIns="0" rtlCol="0" anchor="ctr"/>
          <a:lstStyle/>
          <a:p>
            <a:pPr marL="0" indent="0">
              <a:lnSpc>
                <a:spcPts val="1800"/>
              </a:lnSpc>
              <a:buNone/>
            </a:pPr>
            <a:r>
              <a:rPr lang="en-US" sz="1400" dirty="0">
                <a:solidFill>
                  <a:srgbClr val="2E3A3A"/>
                </a:solidFill>
                <a:latin typeface="Calibri" pitchFamily="34" charset="0"/>
                <a:ea typeface="Calibri" pitchFamily="34" charset="-122"/>
                <a:cs typeface="Calibri" pitchFamily="34" charset="-120"/>
              </a:rPr>
              <a:t>Manual hand-offs between analysts, developers, testers and DevOps</a:t>
            </a:r>
            <a:endParaRPr lang="en-US" sz="1400" dirty="0"/>
          </a:p>
        </p:txBody>
      </p:sp>
      <p:pic>
        <p:nvPicPr>
          <p:cNvPr id="11" name="Image 2" descr="preencoded.png"/>
          <p:cNvPicPr>
            <a:picLocks noChangeAspect="1"/>
          </p:cNvPicPr>
          <p:nvPr/>
        </p:nvPicPr>
        <p:blipFill>
          <a:blip r:embed="rId3"/>
          <a:stretch>
            <a:fillRect/>
          </a:stretch>
        </p:blipFill>
        <p:spPr>
          <a:xfrm>
            <a:off x="868680" y="4096512"/>
            <a:ext cx="201168" cy="201168"/>
          </a:xfrm>
          <a:prstGeom prst="rect">
            <a:avLst/>
          </a:prstGeom>
        </p:spPr>
      </p:pic>
      <p:sp>
        <p:nvSpPr>
          <p:cNvPr id="12" name="Text 7"/>
          <p:cNvSpPr/>
          <p:nvPr/>
        </p:nvSpPr>
        <p:spPr>
          <a:xfrm>
            <a:off x="1170432" y="4041648"/>
            <a:ext cx="4312768" cy="566928"/>
          </a:xfrm>
          <a:prstGeom prst="rect">
            <a:avLst/>
          </a:prstGeom>
          <a:noFill/>
          <a:ln/>
        </p:spPr>
        <p:txBody>
          <a:bodyPr wrap="square" lIns="0" tIns="0" rIns="0" bIns="0" rtlCol="0" anchor="ctr"/>
          <a:lstStyle/>
          <a:p>
            <a:pPr marL="0" indent="0">
              <a:lnSpc>
                <a:spcPts val="1800"/>
              </a:lnSpc>
              <a:buNone/>
            </a:pPr>
            <a:r>
              <a:rPr lang="en-US" sz="1400" dirty="0">
                <a:solidFill>
                  <a:srgbClr val="2E3A3A"/>
                </a:solidFill>
                <a:latin typeface="Calibri" pitchFamily="34" charset="0"/>
                <a:ea typeface="Calibri" pitchFamily="34" charset="-122"/>
                <a:cs typeface="Calibri" pitchFamily="34" charset="-120"/>
              </a:rPr>
              <a:t>No traceability from a requirement to the code and tests that satisfy it</a:t>
            </a:r>
            <a:endParaRPr lang="en-US" sz="1400" dirty="0"/>
          </a:p>
        </p:txBody>
      </p:sp>
      <p:pic>
        <p:nvPicPr>
          <p:cNvPr id="13" name="Image 3" descr="preencoded.png"/>
          <p:cNvPicPr>
            <a:picLocks noChangeAspect="1"/>
          </p:cNvPicPr>
          <p:nvPr/>
        </p:nvPicPr>
        <p:blipFill>
          <a:blip r:embed="rId3"/>
          <a:stretch>
            <a:fillRect/>
          </a:stretch>
        </p:blipFill>
        <p:spPr>
          <a:xfrm>
            <a:off x="868680" y="4700016"/>
            <a:ext cx="201168" cy="201168"/>
          </a:xfrm>
          <a:prstGeom prst="rect">
            <a:avLst/>
          </a:prstGeom>
        </p:spPr>
      </p:pic>
      <p:sp>
        <p:nvSpPr>
          <p:cNvPr id="14" name="Text 8"/>
          <p:cNvSpPr/>
          <p:nvPr/>
        </p:nvSpPr>
        <p:spPr>
          <a:xfrm>
            <a:off x="1170432" y="4645152"/>
            <a:ext cx="4312768" cy="566928"/>
          </a:xfrm>
          <a:prstGeom prst="rect">
            <a:avLst/>
          </a:prstGeom>
          <a:noFill/>
          <a:ln/>
        </p:spPr>
        <p:txBody>
          <a:bodyPr wrap="square" lIns="0" tIns="0" rIns="0" bIns="0" rtlCol="0" anchor="ctr"/>
          <a:lstStyle/>
          <a:p>
            <a:pPr marL="0" indent="0">
              <a:lnSpc>
                <a:spcPts val="1800"/>
              </a:lnSpc>
              <a:buNone/>
            </a:pPr>
            <a:r>
              <a:rPr lang="en-US" sz="1400" dirty="0">
                <a:solidFill>
                  <a:srgbClr val="2E3A3A"/>
                </a:solidFill>
                <a:latin typeface="Calibri" pitchFamily="34" charset="0"/>
                <a:ea typeface="Calibri" pitchFamily="34" charset="-122"/>
                <a:cs typeface="Calibri" pitchFamily="34" charset="-120"/>
              </a:rPr>
              <a:t>Defects surface late, after integration, when they are costliest to fix</a:t>
            </a:r>
            <a:endParaRPr lang="en-US" sz="1400" dirty="0"/>
          </a:p>
        </p:txBody>
      </p:sp>
      <p:pic>
        <p:nvPicPr>
          <p:cNvPr id="15" name="Image 4" descr="preencoded.png"/>
          <p:cNvPicPr>
            <a:picLocks noChangeAspect="1"/>
          </p:cNvPicPr>
          <p:nvPr/>
        </p:nvPicPr>
        <p:blipFill>
          <a:blip r:embed="rId3"/>
          <a:stretch>
            <a:fillRect/>
          </a:stretch>
        </p:blipFill>
        <p:spPr>
          <a:xfrm>
            <a:off x="868680" y="5303520"/>
            <a:ext cx="201168" cy="201168"/>
          </a:xfrm>
          <a:prstGeom prst="rect">
            <a:avLst/>
          </a:prstGeom>
        </p:spPr>
      </p:pic>
      <p:sp>
        <p:nvSpPr>
          <p:cNvPr id="16" name="Text 9"/>
          <p:cNvSpPr/>
          <p:nvPr/>
        </p:nvSpPr>
        <p:spPr>
          <a:xfrm>
            <a:off x="1170432" y="5248656"/>
            <a:ext cx="4312768" cy="566928"/>
          </a:xfrm>
          <a:prstGeom prst="rect">
            <a:avLst/>
          </a:prstGeom>
          <a:noFill/>
          <a:ln/>
        </p:spPr>
        <p:txBody>
          <a:bodyPr wrap="square" lIns="0" tIns="0" rIns="0" bIns="0" rtlCol="0" anchor="ctr"/>
          <a:lstStyle/>
          <a:p>
            <a:pPr marL="0" indent="0">
              <a:lnSpc>
                <a:spcPts val="1800"/>
              </a:lnSpc>
              <a:buNone/>
            </a:pPr>
            <a:r>
              <a:rPr lang="en-US" sz="1400" dirty="0">
                <a:solidFill>
                  <a:srgbClr val="2E3A3A"/>
                </a:solidFill>
                <a:latin typeface="Calibri" pitchFamily="34" charset="0"/>
                <a:ea typeface="Calibri" pitchFamily="34" charset="-122"/>
                <a:cs typeface="Calibri" pitchFamily="34" charset="-120"/>
              </a:rPr>
              <a:t>Progress reporting is assembled by hand from several sources</a:t>
            </a:r>
            <a:endParaRPr lang="en-US" sz="1400" dirty="0"/>
          </a:p>
        </p:txBody>
      </p:sp>
      <p:sp>
        <p:nvSpPr>
          <p:cNvPr id="17" name="Shape 10"/>
          <p:cNvSpPr/>
          <p:nvPr/>
        </p:nvSpPr>
        <p:spPr>
          <a:xfrm>
            <a:off x="6370168" y="1874520"/>
            <a:ext cx="5272888" cy="4023360"/>
          </a:xfrm>
          <a:prstGeom prst="roundRect">
            <a:avLst>
              <a:gd name="adj" fmla="val 1818"/>
            </a:avLst>
          </a:prstGeom>
          <a:solidFill>
            <a:srgbClr val="E3EDEB"/>
          </a:solidFill>
          <a:ln w="12700">
            <a:solidFill>
              <a:srgbClr val="DFDBD2"/>
            </a:solidFill>
            <a:prstDash val="solid"/>
          </a:ln>
          <a:effectLst>
            <a:outerShdw blurRad="76200" dist="12700" dir="5400000" algn="bl" rotWithShape="0">
              <a:srgbClr val="9A948A">
                <a:alpha val="18000"/>
              </a:srgbClr>
            </a:outerShdw>
          </a:effectLst>
        </p:spPr>
      </p:sp>
      <p:sp>
        <p:nvSpPr>
          <p:cNvPr id="18" name="Text 11"/>
          <p:cNvSpPr/>
          <p:nvPr/>
        </p:nvSpPr>
        <p:spPr>
          <a:xfrm>
            <a:off x="6690208" y="2057400"/>
            <a:ext cx="4632808" cy="365760"/>
          </a:xfrm>
          <a:prstGeom prst="rect">
            <a:avLst/>
          </a:prstGeom>
          <a:noFill/>
          <a:ln/>
        </p:spPr>
        <p:txBody>
          <a:bodyPr wrap="square" lIns="0" tIns="0" rIns="0" bIns="0" rtlCol="0" anchor="ctr"/>
          <a:lstStyle/>
          <a:p>
            <a:pPr marL="0" indent="0">
              <a:buNone/>
            </a:pPr>
            <a:r>
              <a:rPr lang="en-US" sz="2100" b="1" dirty="0">
                <a:solidFill>
                  <a:srgbClr val="1F6F6B"/>
                </a:solidFill>
                <a:latin typeface="Cambria" pitchFamily="34" charset="0"/>
                <a:ea typeface="Cambria" pitchFamily="34" charset="-122"/>
                <a:cs typeface="Cambria" pitchFamily="34" charset="-120"/>
              </a:rPr>
              <a:t>With NeuroForge</a:t>
            </a:r>
            <a:endParaRPr lang="en-US" sz="2100" dirty="0"/>
          </a:p>
        </p:txBody>
      </p:sp>
      <p:sp>
        <p:nvSpPr>
          <p:cNvPr id="19" name="Text 12"/>
          <p:cNvSpPr/>
          <p:nvPr/>
        </p:nvSpPr>
        <p:spPr>
          <a:xfrm>
            <a:off x="6690208" y="2432304"/>
            <a:ext cx="4632808" cy="274320"/>
          </a:xfrm>
          <a:prstGeom prst="rect">
            <a:avLst/>
          </a:prstGeom>
          <a:noFill/>
          <a:ln/>
        </p:spPr>
        <p:txBody>
          <a:bodyPr wrap="square" lIns="0" tIns="0" rIns="0" bIns="0" rtlCol="0" anchor="ctr"/>
          <a:lstStyle/>
          <a:p>
            <a:pPr marL="0" indent="0">
              <a:buNone/>
            </a:pPr>
            <a:r>
              <a:rPr lang="en-US" sz="1250" i="1" dirty="0">
                <a:solidFill>
                  <a:srgbClr val="6B7A79"/>
                </a:solidFill>
                <a:latin typeface="Calibri" pitchFamily="34" charset="0"/>
                <a:ea typeface="Calibri" pitchFamily="34" charset="-122"/>
                <a:cs typeface="Calibri" pitchFamily="34" charset="-120"/>
              </a:rPr>
              <a:t>One integrated workspace</a:t>
            </a:r>
            <a:endParaRPr lang="en-US" sz="1250" dirty="0"/>
          </a:p>
        </p:txBody>
      </p:sp>
      <p:pic>
        <p:nvPicPr>
          <p:cNvPr id="20" name="Image 5" descr="preencoded.png"/>
          <p:cNvPicPr>
            <a:picLocks noChangeAspect="1"/>
          </p:cNvPicPr>
          <p:nvPr/>
        </p:nvPicPr>
        <p:blipFill>
          <a:blip r:embed="rId4"/>
          <a:stretch>
            <a:fillRect/>
          </a:stretch>
        </p:blipFill>
        <p:spPr>
          <a:xfrm>
            <a:off x="6690208" y="2889504"/>
            <a:ext cx="201168" cy="201168"/>
          </a:xfrm>
          <a:prstGeom prst="rect">
            <a:avLst/>
          </a:prstGeom>
        </p:spPr>
      </p:pic>
      <p:sp>
        <p:nvSpPr>
          <p:cNvPr id="21" name="Text 13"/>
          <p:cNvSpPr/>
          <p:nvPr/>
        </p:nvSpPr>
        <p:spPr>
          <a:xfrm>
            <a:off x="6991960" y="2834640"/>
            <a:ext cx="4312768" cy="566928"/>
          </a:xfrm>
          <a:prstGeom prst="rect">
            <a:avLst/>
          </a:prstGeom>
          <a:noFill/>
          <a:ln/>
        </p:spPr>
        <p:txBody>
          <a:bodyPr wrap="square" lIns="0" tIns="0" rIns="0" bIns="0" rtlCol="0" anchor="ctr"/>
          <a:lstStyle/>
          <a:p>
            <a:pPr marL="0" indent="0">
              <a:lnSpc>
                <a:spcPts val="1800"/>
              </a:lnSpc>
              <a:buNone/>
            </a:pPr>
            <a:r>
              <a:rPr lang="en-US" sz="1400" dirty="0">
                <a:solidFill>
                  <a:srgbClr val="2E3A3A"/>
                </a:solidFill>
                <a:latin typeface="Calibri" pitchFamily="34" charset="0"/>
                <a:ea typeface="Calibri" pitchFamily="34" charset="-122"/>
                <a:cs typeface="Calibri" pitchFamily="34" charset="-120"/>
              </a:rPr>
              <a:t>Every SDLC stage in one platform with a shared data model</a:t>
            </a:r>
            <a:endParaRPr lang="en-US" sz="1400" dirty="0"/>
          </a:p>
        </p:txBody>
      </p:sp>
      <p:pic>
        <p:nvPicPr>
          <p:cNvPr id="22" name="Image 6" descr="preencoded.png"/>
          <p:cNvPicPr>
            <a:picLocks noChangeAspect="1"/>
          </p:cNvPicPr>
          <p:nvPr/>
        </p:nvPicPr>
        <p:blipFill>
          <a:blip r:embed="rId4"/>
          <a:stretch>
            <a:fillRect/>
          </a:stretch>
        </p:blipFill>
        <p:spPr>
          <a:xfrm>
            <a:off x="6690208" y="3493008"/>
            <a:ext cx="201168" cy="201168"/>
          </a:xfrm>
          <a:prstGeom prst="rect">
            <a:avLst/>
          </a:prstGeom>
        </p:spPr>
      </p:pic>
      <p:sp>
        <p:nvSpPr>
          <p:cNvPr id="23" name="Text 14"/>
          <p:cNvSpPr/>
          <p:nvPr/>
        </p:nvSpPr>
        <p:spPr>
          <a:xfrm>
            <a:off x="6991960" y="3438144"/>
            <a:ext cx="4312768" cy="566928"/>
          </a:xfrm>
          <a:prstGeom prst="rect">
            <a:avLst/>
          </a:prstGeom>
          <a:noFill/>
          <a:ln/>
        </p:spPr>
        <p:txBody>
          <a:bodyPr wrap="square" lIns="0" tIns="0" rIns="0" bIns="0" rtlCol="0" anchor="ctr"/>
          <a:lstStyle/>
          <a:p>
            <a:pPr marL="0" indent="0">
              <a:lnSpc>
                <a:spcPts val="1800"/>
              </a:lnSpc>
              <a:buNone/>
            </a:pPr>
            <a:r>
              <a:rPr lang="en-US" sz="1400" dirty="0">
                <a:solidFill>
                  <a:srgbClr val="2E3A3A"/>
                </a:solidFill>
                <a:latin typeface="Calibri" pitchFamily="34" charset="0"/>
                <a:ea typeface="Calibri" pitchFamily="34" charset="-122"/>
                <a:cs typeface="Calibri" pitchFamily="34" charset="-120"/>
              </a:rPr>
              <a:t>AI converts requirements into user stories, test cases and code suggestions</a:t>
            </a:r>
            <a:endParaRPr lang="en-US" sz="1400" dirty="0"/>
          </a:p>
        </p:txBody>
      </p:sp>
      <p:pic>
        <p:nvPicPr>
          <p:cNvPr id="24" name="Image 7" descr="preencoded.png"/>
          <p:cNvPicPr>
            <a:picLocks noChangeAspect="1"/>
          </p:cNvPicPr>
          <p:nvPr/>
        </p:nvPicPr>
        <p:blipFill>
          <a:blip r:embed="rId4"/>
          <a:stretch>
            <a:fillRect/>
          </a:stretch>
        </p:blipFill>
        <p:spPr>
          <a:xfrm>
            <a:off x="6690208" y="4096512"/>
            <a:ext cx="201168" cy="201168"/>
          </a:xfrm>
          <a:prstGeom prst="rect">
            <a:avLst/>
          </a:prstGeom>
        </p:spPr>
      </p:pic>
      <p:sp>
        <p:nvSpPr>
          <p:cNvPr id="25" name="Text 15"/>
          <p:cNvSpPr/>
          <p:nvPr/>
        </p:nvSpPr>
        <p:spPr>
          <a:xfrm>
            <a:off x="6991960" y="4041648"/>
            <a:ext cx="4312768" cy="566928"/>
          </a:xfrm>
          <a:prstGeom prst="rect">
            <a:avLst/>
          </a:prstGeom>
          <a:noFill/>
          <a:ln/>
        </p:spPr>
        <p:txBody>
          <a:bodyPr wrap="square" lIns="0" tIns="0" rIns="0" bIns="0" rtlCol="0" anchor="ctr"/>
          <a:lstStyle/>
          <a:p>
            <a:pPr marL="0" indent="0">
              <a:lnSpc>
                <a:spcPts val="1800"/>
              </a:lnSpc>
              <a:buNone/>
            </a:pPr>
            <a:r>
              <a:rPr lang="en-US" sz="1400" dirty="0">
                <a:solidFill>
                  <a:srgbClr val="2E3A3A"/>
                </a:solidFill>
                <a:latin typeface="Calibri" pitchFamily="34" charset="0"/>
                <a:ea typeface="Calibri" pitchFamily="34" charset="-122"/>
                <a:cs typeface="Calibri" pitchFamily="34" charset="-120"/>
              </a:rPr>
              <a:t>End-to-end requirement-to-code-to-test traceability maintained automatically</a:t>
            </a:r>
            <a:endParaRPr lang="en-US" sz="1400" dirty="0"/>
          </a:p>
        </p:txBody>
      </p:sp>
      <p:pic>
        <p:nvPicPr>
          <p:cNvPr id="26" name="Image 8" descr="preencoded.png"/>
          <p:cNvPicPr>
            <a:picLocks noChangeAspect="1"/>
          </p:cNvPicPr>
          <p:nvPr/>
        </p:nvPicPr>
        <p:blipFill>
          <a:blip r:embed="rId4"/>
          <a:stretch>
            <a:fillRect/>
          </a:stretch>
        </p:blipFill>
        <p:spPr>
          <a:xfrm>
            <a:off x="6690208" y="4700016"/>
            <a:ext cx="201168" cy="201168"/>
          </a:xfrm>
          <a:prstGeom prst="rect">
            <a:avLst/>
          </a:prstGeom>
        </p:spPr>
      </p:pic>
      <p:sp>
        <p:nvSpPr>
          <p:cNvPr id="27" name="Text 16"/>
          <p:cNvSpPr/>
          <p:nvPr/>
        </p:nvSpPr>
        <p:spPr>
          <a:xfrm>
            <a:off x="6991960" y="4645152"/>
            <a:ext cx="4312768" cy="566928"/>
          </a:xfrm>
          <a:prstGeom prst="rect">
            <a:avLst/>
          </a:prstGeom>
          <a:noFill/>
          <a:ln/>
        </p:spPr>
        <p:txBody>
          <a:bodyPr wrap="square" lIns="0" tIns="0" rIns="0" bIns="0" rtlCol="0" anchor="ctr"/>
          <a:lstStyle/>
          <a:p>
            <a:pPr marL="0" indent="0">
              <a:lnSpc>
                <a:spcPts val="1800"/>
              </a:lnSpc>
              <a:buNone/>
            </a:pPr>
            <a:r>
              <a:rPr lang="en-US" sz="1400" dirty="0">
                <a:solidFill>
                  <a:srgbClr val="2E3A3A"/>
                </a:solidFill>
                <a:latin typeface="Calibri" pitchFamily="34" charset="0"/>
                <a:ea typeface="Calibri" pitchFamily="34" charset="-122"/>
                <a:cs typeface="Calibri" pitchFamily="34" charset="-120"/>
              </a:rPr>
              <a:t>Continuous analysis and automated testing catch defects early</a:t>
            </a:r>
            <a:endParaRPr lang="en-US" sz="1400" dirty="0"/>
          </a:p>
        </p:txBody>
      </p:sp>
      <p:pic>
        <p:nvPicPr>
          <p:cNvPr id="28" name="Image 9" descr="preencoded.png"/>
          <p:cNvPicPr>
            <a:picLocks noChangeAspect="1"/>
          </p:cNvPicPr>
          <p:nvPr/>
        </p:nvPicPr>
        <p:blipFill>
          <a:blip r:embed="rId4"/>
          <a:stretch>
            <a:fillRect/>
          </a:stretch>
        </p:blipFill>
        <p:spPr>
          <a:xfrm>
            <a:off x="6690208" y="5303520"/>
            <a:ext cx="201168" cy="201168"/>
          </a:xfrm>
          <a:prstGeom prst="rect">
            <a:avLst/>
          </a:prstGeom>
        </p:spPr>
      </p:pic>
      <p:sp>
        <p:nvSpPr>
          <p:cNvPr id="29" name="Text 17"/>
          <p:cNvSpPr/>
          <p:nvPr/>
        </p:nvSpPr>
        <p:spPr>
          <a:xfrm>
            <a:off x="6991960" y="5248656"/>
            <a:ext cx="4312768" cy="566928"/>
          </a:xfrm>
          <a:prstGeom prst="rect">
            <a:avLst/>
          </a:prstGeom>
          <a:noFill/>
          <a:ln/>
        </p:spPr>
        <p:txBody>
          <a:bodyPr wrap="square" lIns="0" tIns="0" rIns="0" bIns="0" rtlCol="0" anchor="ctr"/>
          <a:lstStyle/>
          <a:p>
            <a:pPr marL="0" indent="0">
              <a:lnSpc>
                <a:spcPts val="1800"/>
              </a:lnSpc>
              <a:buNone/>
            </a:pPr>
            <a:r>
              <a:rPr lang="en-US" sz="1400" dirty="0">
                <a:solidFill>
                  <a:srgbClr val="2E3A3A"/>
                </a:solidFill>
                <a:latin typeface="Calibri" pitchFamily="34" charset="0"/>
                <a:ea typeface="Calibri" pitchFamily="34" charset="-122"/>
                <a:cs typeface="Calibri" pitchFamily="34" charset="-120"/>
              </a:rPr>
              <a:t>Real-time dashboards report progress without manual consolidation</a:t>
            </a:r>
            <a:endParaRPr lang="en-US" sz="1400" dirty="0"/>
          </a:p>
        </p:txBody>
      </p:sp>
      <p:sp>
        <p:nvSpPr>
          <p:cNvPr id="30" name="Shape 18"/>
          <p:cNvSpPr/>
          <p:nvPr/>
        </p:nvSpPr>
        <p:spPr>
          <a:xfrm>
            <a:off x="5912968" y="3657600"/>
            <a:ext cx="365760" cy="457200"/>
          </a:xfrm>
          <a:prstGeom prst="chevron">
            <a:avLst/>
          </a:prstGeom>
          <a:solidFill>
            <a:srgbClr val="C97B3C"/>
          </a:solidFill>
          <a:ln w="12700">
            <a:solidFill>
              <a:srgbClr val="333333"/>
            </a:solidFill>
            <a:prstDash val="solid"/>
          </a:ln>
        </p:spPr>
      </p:sp>
      <p:sp>
        <p:nvSpPr>
          <p:cNvPr id="31" name="Text 19"/>
          <p:cNvSpPr/>
          <p:nvPr/>
        </p:nvSpPr>
        <p:spPr>
          <a:xfrm>
            <a:off x="548640" y="6272784"/>
            <a:ext cx="7315200" cy="274320"/>
          </a:xfrm>
          <a:prstGeom prst="rect">
            <a:avLst/>
          </a:prstGeom>
          <a:noFill/>
          <a:ln/>
        </p:spPr>
        <p:txBody>
          <a:bodyPr wrap="square" lIns="0" tIns="0" rIns="0" bIns="0" rtlCol="0" anchor="ctr"/>
          <a:lstStyle/>
          <a:p>
            <a:pPr marL="0" indent="0" algn="l">
              <a:buNone/>
            </a:pPr>
            <a:r>
              <a:rPr lang="en-US" sz="1000" dirty="0">
                <a:solidFill>
                  <a:srgbClr val="6B7A79"/>
                </a:solidFill>
                <a:latin typeface="Calibri" pitchFamily="34" charset="0"/>
                <a:ea typeface="Calibri" pitchFamily="34" charset="-122"/>
                <a:cs typeface="Calibri" pitchFamily="34" charset="-120"/>
              </a:rPr>
              <a:t>NeuroForge Enterprise SDLC Platform</a:t>
            </a:r>
            <a:endParaRPr lang="en-US" sz="1000" dirty="0"/>
          </a:p>
        </p:txBody>
      </p:sp>
      <p:sp>
        <p:nvSpPr>
          <p:cNvPr id="32" name="Text 20"/>
          <p:cNvSpPr/>
          <p:nvPr/>
        </p:nvSpPr>
        <p:spPr>
          <a:xfrm>
            <a:off x="10545775" y="6272784"/>
            <a:ext cx="1097280" cy="274320"/>
          </a:xfrm>
          <a:prstGeom prst="rect">
            <a:avLst/>
          </a:prstGeom>
          <a:noFill/>
          <a:ln/>
        </p:spPr>
        <p:txBody>
          <a:bodyPr wrap="square" lIns="0" tIns="0" rIns="0" bIns="0" rtlCol="0" anchor="ctr"/>
          <a:lstStyle/>
          <a:p>
            <a:pPr marL="0" indent="0" algn="r">
              <a:buNone/>
            </a:pPr>
            <a:r>
              <a:rPr lang="en-US" sz="1000" dirty="0">
                <a:solidFill>
                  <a:srgbClr val="6B7A79"/>
                </a:solidFill>
                <a:latin typeface="Calibri" pitchFamily="34" charset="0"/>
                <a:ea typeface="Calibri" pitchFamily="34" charset="-122"/>
                <a:cs typeface="Calibri" pitchFamily="34" charset="-120"/>
              </a:rPr>
              <a:t>3</a:t>
            </a:r>
            <a:endParaRPr lang="en-US" sz="1000" dirty="0"/>
          </a:p>
        </p:txBody>
      </p:sp>
    </p:spTree>
    <p:extLst>
      <p:ext uri="{BB962C8B-B14F-4D97-AF65-F5344CB8AC3E}">
        <p14:creationId xmlns:p14="http://schemas.microsoft.com/office/powerpoint/2010/main" val="2481063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marL="0" indent="0" algn="l">
              <a:buNone/>
            </a:pPr>
            <a:r>
              <a:rPr lang="en-US" sz="3200" b="1" dirty="0">
                <a:solidFill>
                  <a:srgbClr val="1F6F6B"/>
                </a:solidFill>
                <a:latin typeface="Cambria" pitchFamily="34" charset="0"/>
                <a:ea typeface="Cambria" pitchFamily="34" charset="-122"/>
                <a:cs typeface="Cambria" pitchFamily="34" charset="-120"/>
              </a:rPr>
              <a:t>User Types</a:t>
            </a:r>
            <a:endParaRPr lang="en-US" sz="3200" dirty="0"/>
          </a:p>
        </p:txBody>
      </p:sp>
      <p:sp>
        <p:nvSpPr>
          <p:cNvPr id="3" name="Text 1"/>
          <p:cNvSpPr/>
          <p:nvPr/>
        </p:nvSpPr>
        <p:spPr>
          <a:xfrm>
            <a:off x="548640" y="950976"/>
            <a:ext cx="11094415" cy="310896"/>
          </a:xfrm>
          <a:prstGeom prst="rect">
            <a:avLst/>
          </a:prstGeom>
          <a:noFill/>
          <a:ln/>
        </p:spPr>
        <p:txBody>
          <a:bodyPr wrap="square" lIns="0" tIns="0" rIns="0" bIns="0" rtlCol="0" anchor="ctr"/>
          <a:lstStyle/>
          <a:p>
            <a:pPr marL="0" indent="0" algn="l">
              <a:buNone/>
            </a:pPr>
            <a:r>
              <a:rPr lang="en-US" sz="1400" i="1" dirty="0">
                <a:solidFill>
                  <a:srgbClr val="6B7A79"/>
                </a:solidFill>
                <a:latin typeface="Calibri" pitchFamily="34" charset="0"/>
                <a:ea typeface="Calibri" pitchFamily="34" charset="-122"/>
                <a:cs typeface="Calibri" pitchFamily="34" charset="-120"/>
              </a:rPr>
              <a:t>Nine roles, each with a scoped set of permissions and responsibilities.</a:t>
            </a:r>
            <a:endParaRPr lang="en-US" sz="1400" dirty="0"/>
          </a:p>
        </p:txBody>
      </p:sp>
      <p:sp>
        <p:nvSpPr>
          <p:cNvPr id="4" name="Shape 2"/>
          <p:cNvSpPr/>
          <p:nvPr/>
        </p:nvSpPr>
        <p:spPr>
          <a:xfrm>
            <a:off x="548640" y="1481328"/>
            <a:ext cx="3527450" cy="1399032"/>
          </a:xfrm>
          <a:prstGeom prst="roundRect">
            <a:avLst>
              <a:gd name="adj" fmla="val 5229"/>
            </a:avLst>
          </a:prstGeom>
          <a:solidFill>
            <a:srgbClr val="FFFFFF"/>
          </a:solidFill>
          <a:ln w="12700">
            <a:solidFill>
              <a:srgbClr val="DFDBD2"/>
            </a:solidFill>
            <a:prstDash val="solid"/>
          </a:ln>
          <a:effectLst>
            <a:outerShdw blurRad="76200" dist="12700" dir="5400000" algn="bl" rotWithShape="0">
              <a:srgbClr val="9A948A">
                <a:alpha val="18000"/>
              </a:srgbClr>
            </a:outerShdw>
          </a:effectLst>
        </p:spPr>
      </p:sp>
      <p:sp>
        <p:nvSpPr>
          <p:cNvPr id="5" name="Shape 3"/>
          <p:cNvSpPr/>
          <p:nvPr/>
        </p:nvSpPr>
        <p:spPr>
          <a:xfrm>
            <a:off x="749808" y="1664208"/>
            <a:ext cx="329184" cy="329184"/>
          </a:xfrm>
          <a:prstGeom prst="ellipse">
            <a:avLst/>
          </a:prstGeom>
          <a:solidFill>
            <a:srgbClr val="1F6F6B"/>
          </a:solidFill>
          <a:ln w="12700">
            <a:solidFill>
              <a:srgbClr val="1F6F6B"/>
            </a:solidFill>
            <a:prstDash val="solid"/>
          </a:ln>
        </p:spPr>
      </p:sp>
      <p:sp>
        <p:nvSpPr>
          <p:cNvPr id="6" name="Text 4"/>
          <p:cNvSpPr/>
          <p:nvPr/>
        </p:nvSpPr>
        <p:spPr>
          <a:xfrm>
            <a:off x="749808" y="1664208"/>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70432" y="1627632"/>
            <a:ext cx="2704490" cy="402336"/>
          </a:xfrm>
          <a:prstGeom prst="rect">
            <a:avLst/>
          </a:prstGeom>
          <a:noFill/>
          <a:ln/>
        </p:spPr>
        <p:txBody>
          <a:bodyPr wrap="square" lIns="0" tIns="0" rIns="0" bIns="0" rtlCol="0" anchor="ctr"/>
          <a:lstStyle/>
          <a:p>
            <a:pPr marL="0" indent="0">
              <a:buNone/>
            </a:pPr>
            <a:r>
              <a:rPr lang="en-US" sz="1500" b="1" dirty="0">
                <a:solidFill>
                  <a:srgbClr val="1F6F6B"/>
                </a:solidFill>
                <a:latin typeface="Calibri" pitchFamily="34" charset="0"/>
                <a:ea typeface="Calibri" pitchFamily="34" charset="-122"/>
                <a:cs typeface="Calibri" pitchFamily="34" charset="-120"/>
              </a:rPr>
              <a:t>System Administrator</a:t>
            </a:r>
            <a:endParaRPr lang="en-US" sz="1500" dirty="0"/>
          </a:p>
        </p:txBody>
      </p:sp>
      <p:sp>
        <p:nvSpPr>
          <p:cNvPr id="8" name="Text 6"/>
          <p:cNvSpPr/>
          <p:nvPr/>
        </p:nvSpPr>
        <p:spPr>
          <a:xfrm>
            <a:off x="749808" y="2084832"/>
            <a:ext cx="3125114" cy="749808"/>
          </a:xfrm>
          <a:prstGeom prst="rect">
            <a:avLst/>
          </a:prstGeom>
          <a:noFill/>
          <a:ln/>
        </p:spPr>
        <p:txBody>
          <a:bodyPr wrap="square" lIns="0" tIns="0" rIns="0" bIns="0" rtlCol="0" anchor="ctr"/>
          <a:lstStyle/>
          <a:p>
            <a:pPr marL="0" indent="0">
              <a:lnSpc>
                <a:spcPts val="1700"/>
              </a:lnSpc>
              <a:buNone/>
            </a:pPr>
            <a:r>
              <a:rPr lang="en-US" sz="1400" dirty="0">
                <a:solidFill>
                  <a:srgbClr val="2E3A3A"/>
                </a:solidFill>
                <a:latin typeface="Calibri" pitchFamily="34" charset="0"/>
                <a:ea typeface="Calibri" pitchFamily="34" charset="-122"/>
                <a:cs typeface="Calibri" pitchFamily="34" charset="-120"/>
              </a:rPr>
              <a:t>Creates accounts, assigns roles and permissions, configures settings and monitors system health.</a:t>
            </a:r>
            <a:endParaRPr lang="en-US" sz="1400" dirty="0"/>
          </a:p>
        </p:txBody>
      </p:sp>
      <p:sp>
        <p:nvSpPr>
          <p:cNvPr id="9" name="Shape 7"/>
          <p:cNvSpPr/>
          <p:nvPr/>
        </p:nvSpPr>
        <p:spPr>
          <a:xfrm>
            <a:off x="4332122" y="1481328"/>
            <a:ext cx="3527450" cy="1399032"/>
          </a:xfrm>
          <a:prstGeom prst="roundRect">
            <a:avLst>
              <a:gd name="adj" fmla="val 5229"/>
            </a:avLst>
          </a:prstGeom>
          <a:solidFill>
            <a:srgbClr val="FFFFFF"/>
          </a:solidFill>
          <a:ln w="12700">
            <a:solidFill>
              <a:srgbClr val="DFDBD2"/>
            </a:solidFill>
            <a:prstDash val="solid"/>
          </a:ln>
          <a:effectLst>
            <a:outerShdw blurRad="76200" dist="12700" dir="5400000" algn="bl" rotWithShape="0">
              <a:srgbClr val="9A948A">
                <a:alpha val="18000"/>
              </a:srgbClr>
            </a:outerShdw>
          </a:effectLst>
        </p:spPr>
      </p:sp>
      <p:sp>
        <p:nvSpPr>
          <p:cNvPr id="10" name="Shape 8"/>
          <p:cNvSpPr/>
          <p:nvPr/>
        </p:nvSpPr>
        <p:spPr>
          <a:xfrm>
            <a:off x="4533290" y="1664208"/>
            <a:ext cx="329184" cy="329184"/>
          </a:xfrm>
          <a:prstGeom prst="ellipse">
            <a:avLst/>
          </a:prstGeom>
          <a:solidFill>
            <a:srgbClr val="1F6F6B"/>
          </a:solidFill>
          <a:ln w="12700">
            <a:solidFill>
              <a:srgbClr val="1F6F6B"/>
            </a:solidFill>
            <a:prstDash val="solid"/>
          </a:ln>
        </p:spPr>
      </p:sp>
      <p:sp>
        <p:nvSpPr>
          <p:cNvPr id="11" name="Text 9"/>
          <p:cNvSpPr/>
          <p:nvPr/>
        </p:nvSpPr>
        <p:spPr>
          <a:xfrm>
            <a:off x="4533290" y="1664208"/>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4953914" y="1627632"/>
            <a:ext cx="2704490" cy="402336"/>
          </a:xfrm>
          <a:prstGeom prst="rect">
            <a:avLst/>
          </a:prstGeom>
          <a:noFill/>
          <a:ln/>
        </p:spPr>
        <p:txBody>
          <a:bodyPr wrap="square" lIns="0" tIns="0" rIns="0" bIns="0" rtlCol="0" anchor="ctr"/>
          <a:lstStyle/>
          <a:p>
            <a:pPr marL="0" indent="0">
              <a:buNone/>
            </a:pPr>
            <a:r>
              <a:rPr lang="en-US" sz="1500" b="1" dirty="0">
                <a:solidFill>
                  <a:srgbClr val="1F6F6B"/>
                </a:solidFill>
                <a:latin typeface="Calibri" pitchFamily="34" charset="0"/>
                <a:ea typeface="Calibri" pitchFamily="34" charset="-122"/>
                <a:cs typeface="Calibri" pitchFamily="34" charset="-120"/>
              </a:rPr>
              <a:t>Project Manager</a:t>
            </a:r>
            <a:endParaRPr lang="en-US" sz="1500" dirty="0"/>
          </a:p>
        </p:txBody>
      </p:sp>
      <p:sp>
        <p:nvSpPr>
          <p:cNvPr id="13" name="Text 11"/>
          <p:cNvSpPr/>
          <p:nvPr/>
        </p:nvSpPr>
        <p:spPr>
          <a:xfrm>
            <a:off x="4533290" y="2084832"/>
            <a:ext cx="3125114" cy="749808"/>
          </a:xfrm>
          <a:prstGeom prst="rect">
            <a:avLst/>
          </a:prstGeom>
          <a:noFill/>
          <a:ln/>
        </p:spPr>
        <p:txBody>
          <a:bodyPr wrap="square" lIns="0" tIns="0" rIns="0" bIns="0" rtlCol="0" anchor="ctr"/>
          <a:lstStyle/>
          <a:p>
            <a:pPr marL="0" indent="0">
              <a:lnSpc>
                <a:spcPts val="1700"/>
              </a:lnSpc>
              <a:buNone/>
            </a:pPr>
            <a:r>
              <a:rPr lang="en-US" sz="1400" dirty="0">
                <a:solidFill>
                  <a:srgbClr val="2E3A3A"/>
                </a:solidFill>
                <a:latin typeface="Calibri" pitchFamily="34" charset="0"/>
                <a:ea typeface="Calibri" pitchFamily="34" charset="-122"/>
                <a:cs typeface="Calibri" pitchFamily="34" charset="-120"/>
              </a:rPr>
              <a:t>Plans projects, builds schedules, assigns tasks, tracks progress and manages resources to ensure on-time completion.</a:t>
            </a:r>
            <a:endParaRPr lang="en-US" sz="1400" dirty="0"/>
          </a:p>
        </p:txBody>
      </p:sp>
      <p:sp>
        <p:nvSpPr>
          <p:cNvPr id="14" name="Shape 12"/>
          <p:cNvSpPr/>
          <p:nvPr/>
        </p:nvSpPr>
        <p:spPr>
          <a:xfrm>
            <a:off x="8115605" y="1481328"/>
            <a:ext cx="3527450" cy="1399032"/>
          </a:xfrm>
          <a:prstGeom prst="roundRect">
            <a:avLst>
              <a:gd name="adj" fmla="val 5229"/>
            </a:avLst>
          </a:prstGeom>
          <a:solidFill>
            <a:srgbClr val="FFFFFF"/>
          </a:solidFill>
          <a:ln w="12700">
            <a:solidFill>
              <a:srgbClr val="DFDBD2"/>
            </a:solidFill>
            <a:prstDash val="solid"/>
          </a:ln>
          <a:effectLst>
            <a:outerShdw blurRad="76200" dist="12700" dir="5400000" algn="bl" rotWithShape="0">
              <a:srgbClr val="9A948A">
                <a:alpha val="18000"/>
              </a:srgbClr>
            </a:outerShdw>
          </a:effectLst>
        </p:spPr>
      </p:sp>
      <p:sp>
        <p:nvSpPr>
          <p:cNvPr id="15" name="Shape 13"/>
          <p:cNvSpPr/>
          <p:nvPr/>
        </p:nvSpPr>
        <p:spPr>
          <a:xfrm>
            <a:off x="8316773" y="1664208"/>
            <a:ext cx="329184" cy="329184"/>
          </a:xfrm>
          <a:prstGeom prst="ellipse">
            <a:avLst/>
          </a:prstGeom>
          <a:solidFill>
            <a:srgbClr val="1F6F6B"/>
          </a:solidFill>
          <a:ln w="12700">
            <a:solidFill>
              <a:srgbClr val="1F6F6B"/>
            </a:solidFill>
            <a:prstDash val="solid"/>
          </a:ln>
        </p:spPr>
      </p:sp>
      <p:sp>
        <p:nvSpPr>
          <p:cNvPr id="16" name="Text 14"/>
          <p:cNvSpPr/>
          <p:nvPr/>
        </p:nvSpPr>
        <p:spPr>
          <a:xfrm>
            <a:off x="8316773" y="1664208"/>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8737397" y="1627632"/>
            <a:ext cx="2704490" cy="402336"/>
          </a:xfrm>
          <a:prstGeom prst="rect">
            <a:avLst/>
          </a:prstGeom>
          <a:noFill/>
          <a:ln/>
        </p:spPr>
        <p:txBody>
          <a:bodyPr wrap="square" lIns="0" tIns="0" rIns="0" bIns="0" rtlCol="0" anchor="ctr"/>
          <a:lstStyle/>
          <a:p>
            <a:pPr marL="0" indent="0">
              <a:buNone/>
            </a:pPr>
            <a:r>
              <a:rPr lang="en-US" sz="1500" b="1" dirty="0">
                <a:solidFill>
                  <a:srgbClr val="1F6F6B"/>
                </a:solidFill>
                <a:latin typeface="Calibri" pitchFamily="34" charset="0"/>
                <a:ea typeface="Calibri" pitchFamily="34" charset="-122"/>
                <a:cs typeface="Calibri" pitchFamily="34" charset="-120"/>
              </a:rPr>
              <a:t>Business Analyst</a:t>
            </a:r>
            <a:endParaRPr lang="en-US" sz="1500" dirty="0"/>
          </a:p>
        </p:txBody>
      </p:sp>
      <p:sp>
        <p:nvSpPr>
          <p:cNvPr id="18" name="Text 16"/>
          <p:cNvSpPr/>
          <p:nvPr/>
        </p:nvSpPr>
        <p:spPr>
          <a:xfrm>
            <a:off x="8316773" y="2084832"/>
            <a:ext cx="3125114" cy="749808"/>
          </a:xfrm>
          <a:prstGeom prst="rect">
            <a:avLst/>
          </a:prstGeom>
          <a:noFill/>
          <a:ln/>
        </p:spPr>
        <p:txBody>
          <a:bodyPr wrap="square" lIns="0" tIns="0" rIns="0" bIns="0" rtlCol="0" anchor="ctr"/>
          <a:lstStyle/>
          <a:p>
            <a:pPr marL="0" indent="0">
              <a:lnSpc>
                <a:spcPts val="1700"/>
              </a:lnSpc>
              <a:buNone/>
            </a:pPr>
            <a:r>
              <a:rPr lang="en-US" sz="1400" dirty="0">
                <a:solidFill>
                  <a:srgbClr val="2E3A3A"/>
                </a:solidFill>
                <a:latin typeface="Calibri" pitchFamily="34" charset="0"/>
                <a:ea typeface="Calibri" pitchFamily="34" charset="-122"/>
                <a:cs typeface="Calibri" pitchFamily="34" charset="-120"/>
              </a:rPr>
              <a:t>Collects and analyses stakeholder requirements and prepares documents aligned to business objectives.</a:t>
            </a:r>
            <a:endParaRPr lang="en-US" sz="1400" dirty="0"/>
          </a:p>
        </p:txBody>
      </p:sp>
      <p:sp>
        <p:nvSpPr>
          <p:cNvPr id="19" name="Shape 17"/>
          <p:cNvSpPr/>
          <p:nvPr/>
        </p:nvSpPr>
        <p:spPr>
          <a:xfrm>
            <a:off x="548640" y="3118104"/>
            <a:ext cx="3527450" cy="1399032"/>
          </a:xfrm>
          <a:prstGeom prst="roundRect">
            <a:avLst>
              <a:gd name="adj" fmla="val 5229"/>
            </a:avLst>
          </a:prstGeom>
          <a:solidFill>
            <a:srgbClr val="FFFFFF"/>
          </a:solidFill>
          <a:ln w="12700">
            <a:solidFill>
              <a:srgbClr val="DFDBD2"/>
            </a:solidFill>
            <a:prstDash val="solid"/>
          </a:ln>
          <a:effectLst>
            <a:outerShdw blurRad="76200" dist="12700" dir="5400000" algn="bl" rotWithShape="0">
              <a:srgbClr val="9A948A">
                <a:alpha val="18000"/>
              </a:srgbClr>
            </a:outerShdw>
          </a:effectLst>
        </p:spPr>
      </p:sp>
      <p:sp>
        <p:nvSpPr>
          <p:cNvPr id="20" name="Shape 18"/>
          <p:cNvSpPr/>
          <p:nvPr/>
        </p:nvSpPr>
        <p:spPr>
          <a:xfrm>
            <a:off x="749808" y="3300984"/>
            <a:ext cx="329184" cy="329184"/>
          </a:xfrm>
          <a:prstGeom prst="ellipse">
            <a:avLst/>
          </a:prstGeom>
          <a:solidFill>
            <a:srgbClr val="1F6F6B"/>
          </a:solidFill>
          <a:ln w="12700">
            <a:solidFill>
              <a:srgbClr val="1F6F6B"/>
            </a:solidFill>
            <a:prstDash val="solid"/>
          </a:ln>
        </p:spPr>
      </p:sp>
      <p:sp>
        <p:nvSpPr>
          <p:cNvPr id="21" name="Text 19"/>
          <p:cNvSpPr/>
          <p:nvPr/>
        </p:nvSpPr>
        <p:spPr>
          <a:xfrm>
            <a:off x="749808" y="330098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1170432" y="3264408"/>
            <a:ext cx="2704490" cy="402336"/>
          </a:xfrm>
          <a:prstGeom prst="rect">
            <a:avLst/>
          </a:prstGeom>
          <a:noFill/>
          <a:ln/>
        </p:spPr>
        <p:txBody>
          <a:bodyPr wrap="square" lIns="0" tIns="0" rIns="0" bIns="0" rtlCol="0" anchor="ctr"/>
          <a:lstStyle/>
          <a:p>
            <a:pPr marL="0" indent="0">
              <a:buNone/>
            </a:pPr>
            <a:r>
              <a:rPr lang="en-US" sz="1500" b="1" dirty="0">
                <a:solidFill>
                  <a:srgbClr val="1F6F6B"/>
                </a:solidFill>
                <a:latin typeface="Calibri" pitchFamily="34" charset="0"/>
                <a:ea typeface="Calibri" pitchFamily="34" charset="-122"/>
                <a:cs typeface="Calibri" pitchFamily="34" charset="-120"/>
              </a:rPr>
              <a:t>Product Owner</a:t>
            </a:r>
            <a:endParaRPr lang="en-US" sz="1500" dirty="0"/>
          </a:p>
        </p:txBody>
      </p:sp>
      <p:sp>
        <p:nvSpPr>
          <p:cNvPr id="23" name="Text 21"/>
          <p:cNvSpPr/>
          <p:nvPr/>
        </p:nvSpPr>
        <p:spPr>
          <a:xfrm>
            <a:off x="749808" y="3721608"/>
            <a:ext cx="3125114" cy="749808"/>
          </a:xfrm>
          <a:prstGeom prst="rect">
            <a:avLst/>
          </a:prstGeom>
          <a:noFill/>
          <a:ln/>
        </p:spPr>
        <p:txBody>
          <a:bodyPr wrap="square" lIns="0" tIns="0" rIns="0" bIns="0" rtlCol="0" anchor="ctr"/>
          <a:lstStyle/>
          <a:p>
            <a:pPr marL="0" indent="0">
              <a:lnSpc>
                <a:spcPts val="1700"/>
              </a:lnSpc>
              <a:buNone/>
            </a:pPr>
            <a:r>
              <a:rPr lang="en-US" sz="1400" dirty="0">
                <a:solidFill>
                  <a:srgbClr val="2E3A3A"/>
                </a:solidFill>
                <a:latin typeface="Calibri" pitchFamily="34" charset="0"/>
                <a:ea typeface="Calibri" pitchFamily="34" charset="-122"/>
                <a:cs typeface="Calibri" pitchFamily="34" charset="-120"/>
              </a:rPr>
              <a:t>Defines the product vision, prioritises the backlog and approves requirements to maximise delivered customer value.</a:t>
            </a:r>
            <a:endParaRPr lang="en-US" sz="1400" dirty="0"/>
          </a:p>
        </p:txBody>
      </p:sp>
      <p:sp>
        <p:nvSpPr>
          <p:cNvPr id="24" name="Shape 22"/>
          <p:cNvSpPr/>
          <p:nvPr/>
        </p:nvSpPr>
        <p:spPr>
          <a:xfrm>
            <a:off x="4332122" y="3118104"/>
            <a:ext cx="3527450" cy="1399032"/>
          </a:xfrm>
          <a:prstGeom prst="roundRect">
            <a:avLst>
              <a:gd name="adj" fmla="val 5229"/>
            </a:avLst>
          </a:prstGeom>
          <a:solidFill>
            <a:srgbClr val="FFFFFF"/>
          </a:solidFill>
          <a:ln w="12700">
            <a:solidFill>
              <a:srgbClr val="DFDBD2"/>
            </a:solidFill>
            <a:prstDash val="solid"/>
          </a:ln>
          <a:effectLst>
            <a:outerShdw blurRad="76200" dist="12700" dir="5400000" algn="bl" rotWithShape="0">
              <a:srgbClr val="9A948A">
                <a:alpha val="18000"/>
              </a:srgbClr>
            </a:outerShdw>
          </a:effectLst>
        </p:spPr>
      </p:sp>
      <p:sp>
        <p:nvSpPr>
          <p:cNvPr id="25" name="Shape 23"/>
          <p:cNvSpPr/>
          <p:nvPr/>
        </p:nvSpPr>
        <p:spPr>
          <a:xfrm>
            <a:off x="4533290" y="3300984"/>
            <a:ext cx="329184" cy="329184"/>
          </a:xfrm>
          <a:prstGeom prst="ellipse">
            <a:avLst/>
          </a:prstGeom>
          <a:solidFill>
            <a:srgbClr val="1F6F6B"/>
          </a:solidFill>
          <a:ln w="12700">
            <a:solidFill>
              <a:srgbClr val="1F6F6B"/>
            </a:solidFill>
            <a:prstDash val="solid"/>
          </a:ln>
        </p:spPr>
      </p:sp>
      <p:sp>
        <p:nvSpPr>
          <p:cNvPr id="26" name="Text 24"/>
          <p:cNvSpPr/>
          <p:nvPr/>
        </p:nvSpPr>
        <p:spPr>
          <a:xfrm>
            <a:off x="4533290" y="330098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p:nvPr/>
        </p:nvSpPr>
        <p:spPr>
          <a:xfrm>
            <a:off x="4953914" y="3264408"/>
            <a:ext cx="2704490" cy="402336"/>
          </a:xfrm>
          <a:prstGeom prst="rect">
            <a:avLst/>
          </a:prstGeom>
          <a:noFill/>
          <a:ln/>
        </p:spPr>
        <p:txBody>
          <a:bodyPr wrap="square" lIns="0" tIns="0" rIns="0" bIns="0" rtlCol="0" anchor="ctr"/>
          <a:lstStyle/>
          <a:p>
            <a:pPr marL="0" indent="0">
              <a:buNone/>
            </a:pPr>
            <a:r>
              <a:rPr lang="en-US" sz="1500" b="1" dirty="0">
                <a:solidFill>
                  <a:srgbClr val="1F6F6B"/>
                </a:solidFill>
                <a:latin typeface="Calibri" pitchFamily="34" charset="0"/>
                <a:ea typeface="Calibri" pitchFamily="34" charset="-122"/>
                <a:cs typeface="Calibri" pitchFamily="34" charset="-120"/>
              </a:rPr>
              <a:t>Software Architect</a:t>
            </a:r>
            <a:endParaRPr lang="en-US" sz="1500" dirty="0"/>
          </a:p>
        </p:txBody>
      </p:sp>
      <p:sp>
        <p:nvSpPr>
          <p:cNvPr id="28" name="Text 26"/>
          <p:cNvSpPr/>
          <p:nvPr/>
        </p:nvSpPr>
        <p:spPr>
          <a:xfrm>
            <a:off x="4533290" y="3721608"/>
            <a:ext cx="3125114" cy="749808"/>
          </a:xfrm>
          <a:prstGeom prst="rect">
            <a:avLst/>
          </a:prstGeom>
          <a:noFill/>
          <a:ln/>
        </p:spPr>
        <p:txBody>
          <a:bodyPr wrap="square" lIns="0" tIns="0" rIns="0" bIns="0" rtlCol="0" anchor="ctr"/>
          <a:lstStyle/>
          <a:p>
            <a:pPr marL="0" indent="0">
              <a:lnSpc>
                <a:spcPts val="1700"/>
              </a:lnSpc>
              <a:buNone/>
            </a:pPr>
            <a:r>
              <a:rPr lang="en-US" sz="1400" dirty="0">
                <a:solidFill>
                  <a:srgbClr val="2E3A3A"/>
                </a:solidFill>
                <a:latin typeface="Calibri" pitchFamily="34" charset="0"/>
                <a:ea typeface="Calibri" pitchFamily="34" charset="-122"/>
                <a:cs typeface="Calibri" pitchFamily="34" charset="-120"/>
              </a:rPr>
              <a:t>Designs system architecture, selects technologies and defines standards for scalability, security and maintainability.</a:t>
            </a:r>
            <a:endParaRPr lang="en-US" sz="1400" dirty="0"/>
          </a:p>
        </p:txBody>
      </p:sp>
      <p:sp>
        <p:nvSpPr>
          <p:cNvPr id="29" name="Shape 27"/>
          <p:cNvSpPr/>
          <p:nvPr/>
        </p:nvSpPr>
        <p:spPr>
          <a:xfrm>
            <a:off x="8115605" y="3118104"/>
            <a:ext cx="3527450" cy="1399032"/>
          </a:xfrm>
          <a:prstGeom prst="roundRect">
            <a:avLst>
              <a:gd name="adj" fmla="val 5229"/>
            </a:avLst>
          </a:prstGeom>
          <a:solidFill>
            <a:srgbClr val="FFFFFF"/>
          </a:solidFill>
          <a:ln w="12700">
            <a:solidFill>
              <a:srgbClr val="DFDBD2"/>
            </a:solidFill>
            <a:prstDash val="solid"/>
          </a:ln>
          <a:effectLst>
            <a:outerShdw blurRad="76200" dist="12700" dir="5400000" algn="bl" rotWithShape="0">
              <a:srgbClr val="9A948A">
                <a:alpha val="18000"/>
              </a:srgbClr>
            </a:outerShdw>
          </a:effectLst>
        </p:spPr>
      </p:sp>
      <p:sp>
        <p:nvSpPr>
          <p:cNvPr id="30" name="Shape 28"/>
          <p:cNvSpPr/>
          <p:nvPr/>
        </p:nvSpPr>
        <p:spPr>
          <a:xfrm>
            <a:off x="8316773" y="3300984"/>
            <a:ext cx="329184" cy="329184"/>
          </a:xfrm>
          <a:prstGeom prst="ellipse">
            <a:avLst/>
          </a:prstGeom>
          <a:solidFill>
            <a:srgbClr val="1F6F6B"/>
          </a:solidFill>
          <a:ln w="12700">
            <a:solidFill>
              <a:srgbClr val="1F6F6B"/>
            </a:solidFill>
            <a:prstDash val="solid"/>
          </a:ln>
        </p:spPr>
      </p:sp>
      <p:sp>
        <p:nvSpPr>
          <p:cNvPr id="31" name="Text 29"/>
          <p:cNvSpPr/>
          <p:nvPr/>
        </p:nvSpPr>
        <p:spPr>
          <a:xfrm>
            <a:off x="8316773" y="330098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2" name="Text 30"/>
          <p:cNvSpPr/>
          <p:nvPr/>
        </p:nvSpPr>
        <p:spPr>
          <a:xfrm>
            <a:off x="8737397" y="3264408"/>
            <a:ext cx="2704490" cy="402336"/>
          </a:xfrm>
          <a:prstGeom prst="rect">
            <a:avLst/>
          </a:prstGeom>
          <a:noFill/>
          <a:ln/>
        </p:spPr>
        <p:txBody>
          <a:bodyPr wrap="square" lIns="0" tIns="0" rIns="0" bIns="0" rtlCol="0" anchor="ctr"/>
          <a:lstStyle/>
          <a:p>
            <a:pPr marL="0" indent="0">
              <a:buNone/>
            </a:pPr>
            <a:r>
              <a:rPr lang="en-US" sz="1500" b="1" dirty="0">
                <a:solidFill>
                  <a:srgbClr val="1F6F6B"/>
                </a:solidFill>
                <a:latin typeface="Calibri" pitchFamily="34" charset="0"/>
                <a:ea typeface="Calibri" pitchFamily="34" charset="-122"/>
                <a:cs typeface="Calibri" pitchFamily="34" charset="-120"/>
              </a:rPr>
              <a:t>Developer</a:t>
            </a:r>
            <a:endParaRPr lang="en-US" sz="1500" dirty="0"/>
          </a:p>
        </p:txBody>
      </p:sp>
      <p:sp>
        <p:nvSpPr>
          <p:cNvPr id="33" name="Text 31"/>
          <p:cNvSpPr/>
          <p:nvPr/>
        </p:nvSpPr>
        <p:spPr>
          <a:xfrm>
            <a:off x="8316773" y="3721608"/>
            <a:ext cx="3125114" cy="749808"/>
          </a:xfrm>
          <a:prstGeom prst="rect">
            <a:avLst/>
          </a:prstGeom>
          <a:noFill/>
          <a:ln/>
        </p:spPr>
        <p:txBody>
          <a:bodyPr wrap="square" lIns="0" tIns="0" rIns="0" bIns="0" rtlCol="0" anchor="ctr"/>
          <a:lstStyle/>
          <a:p>
            <a:pPr marL="0" indent="0">
              <a:lnSpc>
                <a:spcPts val="1700"/>
              </a:lnSpc>
              <a:buNone/>
            </a:pPr>
            <a:r>
              <a:rPr lang="en-US" sz="1400" dirty="0">
                <a:solidFill>
                  <a:srgbClr val="2E3A3A"/>
                </a:solidFill>
                <a:latin typeface="Calibri" pitchFamily="34" charset="0"/>
                <a:ea typeface="Calibri" pitchFamily="34" charset="-122"/>
                <a:cs typeface="Calibri" pitchFamily="34" charset="-120"/>
              </a:rPr>
              <a:t>Builds features, writes and reviews code, fixes defects, integrates APIs and uses AI assistance.</a:t>
            </a:r>
            <a:endParaRPr lang="en-US" sz="1400" dirty="0"/>
          </a:p>
        </p:txBody>
      </p:sp>
      <p:sp>
        <p:nvSpPr>
          <p:cNvPr id="34" name="Shape 32"/>
          <p:cNvSpPr/>
          <p:nvPr/>
        </p:nvSpPr>
        <p:spPr>
          <a:xfrm>
            <a:off x="548640" y="4754880"/>
            <a:ext cx="3527450" cy="1399032"/>
          </a:xfrm>
          <a:prstGeom prst="roundRect">
            <a:avLst>
              <a:gd name="adj" fmla="val 5229"/>
            </a:avLst>
          </a:prstGeom>
          <a:solidFill>
            <a:srgbClr val="FFFFFF"/>
          </a:solidFill>
          <a:ln w="12700">
            <a:solidFill>
              <a:srgbClr val="DFDBD2"/>
            </a:solidFill>
            <a:prstDash val="solid"/>
          </a:ln>
          <a:effectLst>
            <a:outerShdw blurRad="76200" dist="12700" dir="5400000" algn="bl" rotWithShape="0">
              <a:srgbClr val="9A948A">
                <a:alpha val="18000"/>
              </a:srgbClr>
            </a:outerShdw>
          </a:effectLst>
        </p:spPr>
      </p:sp>
      <p:sp>
        <p:nvSpPr>
          <p:cNvPr id="35" name="Shape 33"/>
          <p:cNvSpPr/>
          <p:nvPr/>
        </p:nvSpPr>
        <p:spPr>
          <a:xfrm>
            <a:off x="749808" y="4937760"/>
            <a:ext cx="329184" cy="329184"/>
          </a:xfrm>
          <a:prstGeom prst="ellipse">
            <a:avLst/>
          </a:prstGeom>
          <a:solidFill>
            <a:srgbClr val="1F6F6B"/>
          </a:solidFill>
          <a:ln w="12700">
            <a:solidFill>
              <a:srgbClr val="1F6F6B"/>
            </a:solidFill>
            <a:prstDash val="solid"/>
          </a:ln>
        </p:spPr>
      </p:sp>
      <p:sp>
        <p:nvSpPr>
          <p:cNvPr id="36" name="Text 34"/>
          <p:cNvSpPr/>
          <p:nvPr/>
        </p:nvSpPr>
        <p:spPr>
          <a:xfrm>
            <a:off x="749808" y="493776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7" name="Text 35"/>
          <p:cNvSpPr/>
          <p:nvPr/>
        </p:nvSpPr>
        <p:spPr>
          <a:xfrm>
            <a:off x="1170432" y="4901184"/>
            <a:ext cx="2704490" cy="402336"/>
          </a:xfrm>
          <a:prstGeom prst="rect">
            <a:avLst/>
          </a:prstGeom>
          <a:noFill/>
          <a:ln/>
        </p:spPr>
        <p:txBody>
          <a:bodyPr wrap="square" lIns="0" tIns="0" rIns="0" bIns="0" rtlCol="0" anchor="ctr"/>
          <a:lstStyle/>
          <a:p>
            <a:pPr marL="0" indent="0">
              <a:buNone/>
            </a:pPr>
            <a:r>
              <a:rPr lang="en-US" sz="1500" b="1" dirty="0">
                <a:solidFill>
                  <a:srgbClr val="1F6F6B"/>
                </a:solidFill>
                <a:latin typeface="Calibri" pitchFamily="34" charset="0"/>
                <a:ea typeface="Calibri" pitchFamily="34" charset="-122"/>
                <a:cs typeface="Calibri" pitchFamily="34" charset="-120"/>
              </a:rPr>
              <a:t>QA / Test Engineer</a:t>
            </a:r>
            <a:endParaRPr lang="en-US" sz="1500" dirty="0"/>
          </a:p>
        </p:txBody>
      </p:sp>
      <p:sp>
        <p:nvSpPr>
          <p:cNvPr id="38" name="Text 36"/>
          <p:cNvSpPr/>
          <p:nvPr/>
        </p:nvSpPr>
        <p:spPr>
          <a:xfrm>
            <a:off x="749808" y="5358384"/>
            <a:ext cx="3125114" cy="749808"/>
          </a:xfrm>
          <a:prstGeom prst="rect">
            <a:avLst/>
          </a:prstGeom>
          <a:noFill/>
          <a:ln/>
        </p:spPr>
        <p:txBody>
          <a:bodyPr wrap="square" lIns="0" tIns="0" rIns="0" bIns="0" rtlCol="0" anchor="ctr"/>
          <a:lstStyle/>
          <a:p>
            <a:pPr marL="0" indent="0">
              <a:lnSpc>
                <a:spcPts val="1700"/>
              </a:lnSpc>
              <a:buNone/>
            </a:pPr>
            <a:r>
              <a:rPr lang="en-US" sz="1400" dirty="0">
                <a:solidFill>
                  <a:srgbClr val="2E3A3A"/>
                </a:solidFill>
                <a:latin typeface="Calibri" pitchFamily="34" charset="0"/>
                <a:ea typeface="Calibri" pitchFamily="34" charset="-122"/>
                <a:cs typeface="Calibri" pitchFamily="34" charset="-120"/>
              </a:rPr>
              <a:t>Creates and runs manual and automated tests, logs defects, verifies fixes and enforces quality.</a:t>
            </a:r>
            <a:endParaRPr lang="en-US" sz="1400" dirty="0"/>
          </a:p>
        </p:txBody>
      </p:sp>
      <p:sp>
        <p:nvSpPr>
          <p:cNvPr id="39" name="Shape 37"/>
          <p:cNvSpPr/>
          <p:nvPr/>
        </p:nvSpPr>
        <p:spPr>
          <a:xfrm>
            <a:off x="4332122" y="4754880"/>
            <a:ext cx="3527450" cy="1399032"/>
          </a:xfrm>
          <a:prstGeom prst="roundRect">
            <a:avLst>
              <a:gd name="adj" fmla="val 5229"/>
            </a:avLst>
          </a:prstGeom>
          <a:solidFill>
            <a:srgbClr val="FFFFFF"/>
          </a:solidFill>
          <a:ln w="12700">
            <a:solidFill>
              <a:srgbClr val="DFDBD2"/>
            </a:solidFill>
            <a:prstDash val="solid"/>
          </a:ln>
          <a:effectLst>
            <a:outerShdw blurRad="76200" dist="12700" dir="5400000" algn="bl" rotWithShape="0">
              <a:srgbClr val="9A948A">
                <a:alpha val="18000"/>
              </a:srgbClr>
            </a:outerShdw>
          </a:effectLst>
        </p:spPr>
      </p:sp>
      <p:sp>
        <p:nvSpPr>
          <p:cNvPr id="40" name="Shape 38"/>
          <p:cNvSpPr/>
          <p:nvPr/>
        </p:nvSpPr>
        <p:spPr>
          <a:xfrm>
            <a:off x="4533290" y="4937760"/>
            <a:ext cx="329184" cy="329184"/>
          </a:xfrm>
          <a:prstGeom prst="ellipse">
            <a:avLst/>
          </a:prstGeom>
          <a:solidFill>
            <a:srgbClr val="1F6F6B"/>
          </a:solidFill>
          <a:ln w="12700">
            <a:solidFill>
              <a:srgbClr val="1F6F6B"/>
            </a:solidFill>
            <a:prstDash val="solid"/>
          </a:ln>
        </p:spPr>
      </p:sp>
      <p:sp>
        <p:nvSpPr>
          <p:cNvPr id="41" name="Text 39"/>
          <p:cNvSpPr/>
          <p:nvPr/>
        </p:nvSpPr>
        <p:spPr>
          <a:xfrm>
            <a:off x="4533290" y="493776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2" name="Text 40"/>
          <p:cNvSpPr/>
          <p:nvPr/>
        </p:nvSpPr>
        <p:spPr>
          <a:xfrm>
            <a:off x="4953914" y="4901184"/>
            <a:ext cx="2704490" cy="402336"/>
          </a:xfrm>
          <a:prstGeom prst="rect">
            <a:avLst/>
          </a:prstGeom>
          <a:noFill/>
          <a:ln/>
        </p:spPr>
        <p:txBody>
          <a:bodyPr wrap="square" lIns="0" tIns="0" rIns="0" bIns="0" rtlCol="0" anchor="ctr"/>
          <a:lstStyle/>
          <a:p>
            <a:pPr marL="0" indent="0">
              <a:buNone/>
            </a:pPr>
            <a:r>
              <a:rPr lang="en-US" sz="1500" b="1" dirty="0">
                <a:solidFill>
                  <a:srgbClr val="1F6F6B"/>
                </a:solidFill>
                <a:latin typeface="Calibri" pitchFamily="34" charset="0"/>
                <a:ea typeface="Calibri" pitchFamily="34" charset="-122"/>
                <a:cs typeface="Calibri" pitchFamily="34" charset="-120"/>
              </a:rPr>
              <a:t>DevOps Engineer</a:t>
            </a:r>
            <a:endParaRPr lang="en-US" sz="1500" dirty="0"/>
          </a:p>
        </p:txBody>
      </p:sp>
      <p:sp>
        <p:nvSpPr>
          <p:cNvPr id="43" name="Text 41"/>
          <p:cNvSpPr/>
          <p:nvPr/>
        </p:nvSpPr>
        <p:spPr>
          <a:xfrm>
            <a:off x="4533290" y="5358384"/>
            <a:ext cx="3125114" cy="749808"/>
          </a:xfrm>
          <a:prstGeom prst="rect">
            <a:avLst/>
          </a:prstGeom>
          <a:noFill/>
          <a:ln/>
        </p:spPr>
        <p:txBody>
          <a:bodyPr wrap="square" lIns="0" tIns="0" rIns="0" bIns="0" rtlCol="0" anchor="ctr"/>
          <a:lstStyle/>
          <a:p>
            <a:pPr marL="0" indent="0">
              <a:lnSpc>
                <a:spcPts val="1700"/>
              </a:lnSpc>
              <a:buNone/>
            </a:pPr>
            <a:r>
              <a:rPr lang="en-US" sz="1400" dirty="0">
                <a:solidFill>
                  <a:srgbClr val="2E3A3A"/>
                </a:solidFill>
                <a:latin typeface="Calibri" pitchFamily="34" charset="0"/>
                <a:ea typeface="Calibri" pitchFamily="34" charset="-122"/>
                <a:cs typeface="Calibri" pitchFamily="34" charset="-120"/>
              </a:rPr>
              <a:t>Manages CI/CD pipelines, automates builds and deployments and monitors infrastructure health.</a:t>
            </a:r>
            <a:endParaRPr lang="en-US" sz="1400" dirty="0"/>
          </a:p>
        </p:txBody>
      </p:sp>
      <p:sp>
        <p:nvSpPr>
          <p:cNvPr id="44" name="Shape 42"/>
          <p:cNvSpPr/>
          <p:nvPr/>
        </p:nvSpPr>
        <p:spPr>
          <a:xfrm>
            <a:off x="8115605" y="4754880"/>
            <a:ext cx="3527450" cy="1399032"/>
          </a:xfrm>
          <a:prstGeom prst="roundRect">
            <a:avLst>
              <a:gd name="adj" fmla="val 5229"/>
            </a:avLst>
          </a:prstGeom>
          <a:solidFill>
            <a:srgbClr val="FFFFFF"/>
          </a:solidFill>
          <a:ln w="12700">
            <a:solidFill>
              <a:srgbClr val="DFDBD2"/>
            </a:solidFill>
            <a:prstDash val="solid"/>
          </a:ln>
          <a:effectLst>
            <a:outerShdw blurRad="76200" dist="12700" dir="5400000" algn="bl" rotWithShape="0">
              <a:srgbClr val="9A948A">
                <a:alpha val="18000"/>
              </a:srgbClr>
            </a:outerShdw>
          </a:effectLst>
        </p:spPr>
      </p:sp>
      <p:sp>
        <p:nvSpPr>
          <p:cNvPr id="45" name="Shape 43"/>
          <p:cNvSpPr/>
          <p:nvPr/>
        </p:nvSpPr>
        <p:spPr>
          <a:xfrm>
            <a:off x="8316773" y="4937760"/>
            <a:ext cx="329184" cy="329184"/>
          </a:xfrm>
          <a:prstGeom prst="ellipse">
            <a:avLst/>
          </a:prstGeom>
          <a:solidFill>
            <a:srgbClr val="1F6F6B"/>
          </a:solidFill>
          <a:ln w="12700">
            <a:solidFill>
              <a:srgbClr val="1F6F6B"/>
            </a:solidFill>
            <a:prstDash val="solid"/>
          </a:ln>
        </p:spPr>
      </p:sp>
      <p:sp>
        <p:nvSpPr>
          <p:cNvPr id="46" name="Text 44"/>
          <p:cNvSpPr/>
          <p:nvPr/>
        </p:nvSpPr>
        <p:spPr>
          <a:xfrm>
            <a:off x="8316773" y="493776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47" name="Text 45"/>
          <p:cNvSpPr/>
          <p:nvPr/>
        </p:nvSpPr>
        <p:spPr>
          <a:xfrm>
            <a:off x="8737397" y="4901184"/>
            <a:ext cx="2704490" cy="402336"/>
          </a:xfrm>
          <a:prstGeom prst="rect">
            <a:avLst/>
          </a:prstGeom>
          <a:noFill/>
          <a:ln/>
        </p:spPr>
        <p:txBody>
          <a:bodyPr wrap="square" lIns="0" tIns="0" rIns="0" bIns="0" rtlCol="0" anchor="ctr"/>
          <a:lstStyle/>
          <a:p>
            <a:pPr marL="0" indent="0">
              <a:buNone/>
            </a:pPr>
            <a:r>
              <a:rPr lang="en-US" sz="1500" b="1" dirty="0">
                <a:solidFill>
                  <a:srgbClr val="1F6F6B"/>
                </a:solidFill>
                <a:latin typeface="Calibri" pitchFamily="34" charset="0"/>
                <a:ea typeface="Calibri" pitchFamily="34" charset="-122"/>
                <a:cs typeface="Calibri" pitchFamily="34" charset="-120"/>
              </a:rPr>
              <a:t>Client / Stakeholder</a:t>
            </a:r>
            <a:endParaRPr lang="en-US" sz="1500" dirty="0"/>
          </a:p>
        </p:txBody>
      </p:sp>
      <p:sp>
        <p:nvSpPr>
          <p:cNvPr id="48" name="Text 46"/>
          <p:cNvSpPr/>
          <p:nvPr/>
        </p:nvSpPr>
        <p:spPr>
          <a:xfrm>
            <a:off x="8316773" y="5358384"/>
            <a:ext cx="3125114" cy="749808"/>
          </a:xfrm>
          <a:prstGeom prst="rect">
            <a:avLst/>
          </a:prstGeom>
          <a:noFill/>
          <a:ln/>
        </p:spPr>
        <p:txBody>
          <a:bodyPr wrap="square" lIns="0" tIns="0" rIns="0" bIns="0" rtlCol="0" anchor="ctr"/>
          <a:lstStyle/>
          <a:p>
            <a:pPr marL="0" indent="0">
              <a:lnSpc>
                <a:spcPts val="1700"/>
              </a:lnSpc>
              <a:buNone/>
            </a:pPr>
            <a:r>
              <a:rPr lang="en-US" sz="1400" dirty="0">
                <a:solidFill>
                  <a:srgbClr val="2E3A3A"/>
                </a:solidFill>
                <a:latin typeface="Calibri" pitchFamily="34" charset="0"/>
                <a:ea typeface="Calibri" pitchFamily="34" charset="-122"/>
                <a:cs typeface="Calibri" pitchFamily="34" charset="-120"/>
              </a:rPr>
              <a:t>Reviews progress on dashboards, approves deliverables and confirms the software satisfies business requirements.</a:t>
            </a:r>
            <a:endParaRPr lang="en-US" sz="1400" dirty="0"/>
          </a:p>
        </p:txBody>
      </p:sp>
      <p:sp>
        <p:nvSpPr>
          <p:cNvPr id="49" name="Text 47"/>
          <p:cNvSpPr/>
          <p:nvPr/>
        </p:nvSpPr>
        <p:spPr>
          <a:xfrm>
            <a:off x="548640" y="6272784"/>
            <a:ext cx="7315200" cy="274320"/>
          </a:xfrm>
          <a:prstGeom prst="rect">
            <a:avLst/>
          </a:prstGeom>
          <a:noFill/>
          <a:ln/>
        </p:spPr>
        <p:txBody>
          <a:bodyPr wrap="square" lIns="0" tIns="0" rIns="0" bIns="0" rtlCol="0" anchor="ctr"/>
          <a:lstStyle/>
          <a:p>
            <a:pPr marL="0" indent="0" algn="l">
              <a:buNone/>
            </a:pPr>
            <a:r>
              <a:rPr lang="en-US" sz="1000" dirty="0">
                <a:solidFill>
                  <a:srgbClr val="6B7A79"/>
                </a:solidFill>
                <a:latin typeface="Calibri" pitchFamily="34" charset="0"/>
                <a:ea typeface="Calibri" pitchFamily="34" charset="-122"/>
                <a:cs typeface="Calibri" pitchFamily="34" charset="-120"/>
              </a:rPr>
              <a:t>NeuroForge Enterprise SDLC Platform</a:t>
            </a:r>
            <a:endParaRPr lang="en-US" sz="1000" dirty="0"/>
          </a:p>
        </p:txBody>
      </p:sp>
      <p:sp>
        <p:nvSpPr>
          <p:cNvPr id="50" name="Text 48"/>
          <p:cNvSpPr/>
          <p:nvPr/>
        </p:nvSpPr>
        <p:spPr>
          <a:xfrm>
            <a:off x="10545775" y="6272784"/>
            <a:ext cx="1097280" cy="274320"/>
          </a:xfrm>
          <a:prstGeom prst="rect">
            <a:avLst/>
          </a:prstGeom>
          <a:noFill/>
          <a:ln/>
        </p:spPr>
        <p:txBody>
          <a:bodyPr wrap="square" lIns="0" tIns="0" rIns="0" bIns="0" rtlCol="0" anchor="ctr"/>
          <a:lstStyle/>
          <a:p>
            <a:pPr marL="0" indent="0" algn="r">
              <a:buNone/>
            </a:pPr>
            <a:r>
              <a:rPr lang="en-US" sz="1000" dirty="0" smtClean="0">
                <a:solidFill>
                  <a:srgbClr val="6B7A79"/>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marL="0" indent="0" algn="l">
              <a:buNone/>
            </a:pPr>
            <a:r>
              <a:rPr lang="en-US" sz="3200" b="1" dirty="0">
                <a:solidFill>
                  <a:srgbClr val="1F6F6B"/>
                </a:solidFill>
                <a:latin typeface="Cambria" pitchFamily="34" charset="0"/>
                <a:ea typeface="Cambria" pitchFamily="34" charset="-122"/>
                <a:cs typeface="Cambria" pitchFamily="34" charset="-120"/>
              </a:rPr>
              <a:t>Functional Requirements</a:t>
            </a:r>
            <a:endParaRPr lang="en-US" sz="3200" dirty="0"/>
          </a:p>
        </p:txBody>
      </p:sp>
      <p:sp>
        <p:nvSpPr>
          <p:cNvPr id="3" name="Text 1"/>
          <p:cNvSpPr/>
          <p:nvPr/>
        </p:nvSpPr>
        <p:spPr>
          <a:xfrm>
            <a:off x="548640" y="950976"/>
            <a:ext cx="11094415" cy="310896"/>
          </a:xfrm>
          <a:prstGeom prst="rect">
            <a:avLst/>
          </a:prstGeom>
          <a:noFill/>
          <a:ln/>
        </p:spPr>
        <p:txBody>
          <a:bodyPr wrap="square" lIns="0" tIns="0" rIns="0" bIns="0" rtlCol="0" anchor="ctr"/>
          <a:lstStyle/>
          <a:p>
            <a:pPr marL="0" indent="0" algn="l">
              <a:buNone/>
            </a:pPr>
            <a:r>
              <a:rPr lang="en-US" sz="1400" i="1" dirty="0">
                <a:solidFill>
                  <a:srgbClr val="6B7A79"/>
                </a:solidFill>
                <a:latin typeface="Calibri" pitchFamily="34" charset="0"/>
                <a:ea typeface="Calibri" pitchFamily="34" charset="-122"/>
                <a:cs typeface="Calibri" pitchFamily="34" charset="-120"/>
              </a:rPr>
              <a:t>Nine core modules delivered by the platform.</a:t>
            </a:r>
            <a:endParaRPr lang="en-US" sz="1400" dirty="0"/>
          </a:p>
        </p:txBody>
      </p:sp>
      <p:sp>
        <p:nvSpPr>
          <p:cNvPr id="4" name="Shape 2"/>
          <p:cNvSpPr/>
          <p:nvPr/>
        </p:nvSpPr>
        <p:spPr>
          <a:xfrm>
            <a:off x="548640" y="1481328"/>
            <a:ext cx="5318608" cy="841248"/>
          </a:xfrm>
          <a:prstGeom prst="roundRect">
            <a:avLst>
              <a:gd name="adj" fmla="val 6522"/>
            </a:avLst>
          </a:prstGeom>
          <a:solidFill>
            <a:srgbClr val="FFFFFF"/>
          </a:solidFill>
          <a:ln w="12700">
            <a:solidFill>
              <a:srgbClr val="DFDBD2"/>
            </a:solidFill>
            <a:prstDash val="solid"/>
          </a:ln>
        </p:spPr>
      </p:sp>
      <p:sp>
        <p:nvSpPr>
          <p:cNvPr id="5" name="Shape 3"/>
          <p:cNvSpPr/>
          <p:nvPr/>
        </p:nvSpPr>
        <p:spPr>
          <a:xfrm>
            <a:off x="731520" y="1627632"/>
            <a:ext cx="310896" cy="310896"/>
          </a:xfrm>
          <a:prstGeom prst="ellipse">
            <a:avLst/>
          </a:prstGeom>
          <a:solidFill>
            <a:srgbClr val="1F6F6B"/>
          </a:solidFill>
          <a:ln w="12700">
            <a:solidFill>
              <a:srgbClr val="1F6F6B"/>
            </a:solidFill>
            <a:prstDash val="solid"/>
          </a:ln>
        </p:spPr>
      </p:sp>
      <p:sp>
        <p:nvSpPr>
          <p:cNvPr id="6" name="Text 4"/>
          <p:cNvSpPr/>
          <p:nvPr/>
        </p:nvSpPr>
        <p:spPr>
          <a:xfrm>
            <a:off x="731520" y="1627632"/>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33856" y="1581912"/>
            <a:ext cx="4550512" cy="274320"/>
          </a:xfrm>
          <a:prstGeom prst="rect">
            <a:avLst/>
          </a:prstGeom>
          <a:noFill/>
          <a:ln/>
        </p:spPr>
        <p:txBody>
          <a:bodyPr wrap="square" lIns="0" tIns="0" rIns="0" bIns="0" rtlCol="0" anchor="ctr"/>
          <a:lstStyle/>
          <a:p>
            <a:pPr marL="0" indent="0">
              <a:buNone/>
            </a:pPr>
            <a:r>
              <a:rPr lang="en-US" sz="1450" b="1" dirty="0">
                <a:solidFill>
                  <a:srgbClr val="1F6F6B"/>
                </a:solidFill>
                <a:latin typeface="Calibri" pitchFamily="34" charset="0"/>
                <a:ea typeface="Calibri" pitchFamily="34" charset="-122"/>
                <a:cs typeface="Calibri" pitchFamily="34" charset="-120"/>
              </a:rPr>
              <a:t>Authentication &amp; Role-Based Access Control</a:t>
            </a:r>
            <a:endParaRPr lang="en-US" sz="1450" dirty="0"/>
          </a:p>
        </p:txBody>
      </p:sp>
      <p:sp>
        <p:nvSpPr>
          <p:cNvPr id="8" name="Text 6"/>
          <p:cNvSpPr/>
          <p:nvPr/>
        </p:nvSpPr>
        <p:spPr>
          <a:xfrm>
            <a:off x="1133856" y="1856232"/>
            <a:ext cx="4550512" cy="402336"/>
          </a:xfrm>
          <a:prstGeom prst="rect">
            <a:avLst/>
          </a:prstGeom>
          <a:noFill/>
          <a:ln/>
        </p:spPr>
        <p:txBody>
          <a:bodyPr wrap="square" lIns="0" tIns="0" rIns="0" bIns="0" rtlCol="0" anchor="ctr"/>
          <a:lstStyle/>
          <a:p>
            <a:pPr marL="0" indent="0">
              <a:lnSpc>
                <a:spcPts val="1700"/>
              </a:lnSpc>
              <a:buNone/>
            </a:pPr>
            <a:r>
              <a:rPr lang="en-US" sz="1400" dirty="0">
                <a:solidFill>
                  <a:srgbClr val="2E3A3A"/>
                </a:solidFill>
                <a:latin typeface="Calibri" pitchFamily="34" charset="0"/>
                <a:ea typeface="Calibri" pitchFamily="34" charset="-122"/>
                <a:cs typeface="Calibri" pitchFamily="34" charset="-120"/>
              </a:rPr>
              <a:t>Secure login with permissions scoped by role, so users reach only authorised modules.</a:t>
            </a:r>
            <a:endParaRPr lang="en-US" sz="1400" dirty="0"/>
          </a:p>
        </p:txBody>
      </p:sp>
      <p:sp>
        <p:nvSpPr>
          <p:cNvPr id="9" name="Shape 7"/>
          <p:cNvSpPr/>
          <p:nvPr/>
        </p:nvSpPr>
        <p:spPr>
          <a:xfrm>
            <a:off x="548640" y="2423160"/>
            <a:ext cx="5318608" cy="841248"/>
          </a:xfrm>
          <a:prstGeom prst="roundRect">
            <a:avLst>
              <a:gd name="adj" fmla="val 6522"/>
            </a:avLst>
          </a:prstGeom>
          <a:solidFill>
            <a:srgbClr val="FFFFFF"/>
          </a:solidFill>
          <a:ln w="12700">
            <a:solidFill>
              <a:srgbClr val="DFDBD2"/>
            </a:solidFill>
            <a:prstDash val="solid"/>
          </a:ln>
        </p:spPr>
      </p:sp>
      <p:sp>
        <p:nvSpPr>
          <p:cNvPr id="10" name="Shape 8"/>
          <p:cNvSpPr/>
          <p:nvPr/>
        </p:nvSpPr>
        <p:spPr>
          <a:xfrm>
            <a:off x="731520" y="2569464"/>
            <a:ext cx="310896" cy="310896"/>
          </a:xfrm>
          <a:prstGeom prst="ellipse">
            <a:avLst/>
          </a:prstGeom>
          <a:solidFill>
            <a:srgbClr val="1F6F6B"/>
          </a:solidFill>
          <a:ln w="12700">
            <a:solidFill>
              <a:srgbClr val="1F6F6B"/>
            </a:solidFill>
            <a:prstDash val="solid"/>
          </a:ln>
        </p:spPr>
      </p:sp>
      <p:sp>
        <p:nvSpPr>
          <p:cNvPr id="11" name="Text 9"/>
          <p:cNvSpPr/>
          <p:nvPr/>
        </p:nvSpPr>
        <p:spPr>
          <a:xfrm>
            <a:off x="731520" y="2569464"/>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133856" y="2523744"/>
            <a:ext cx="4550512" cy="274320"/>
          </a:xfrm>
          <a:prstGeom prst="rect">
            <a:avLst/>
          </a:prstGeom>
          <a:noFill/>
          <a:ln/>
        </p:spPr>
        <p:txBody>
          <a:bodyPr wrap="square" lIns="0" tIns="0" rIns="0" bIns="0" rtlCol="0" anchor="ctr"/>
          <a:lstStyle/>
          <a:p>
            <a:pPr marL="0" indent="0">
              <a:buNone/>
            </a:pPr>
            <a:r>
              <a:rPr lang="en-US" sz="1450" b="1" dirty="0">
                <a:solidFill>
                  <a:srgbClr val="1F6F6B"/>
                </a:solidFill>
                <a:latin typeface="Calibri" pitchFamily="34" charset="0"/>
                <a:ea typeface="Calibri" pitchFamily="34" charset="-122"/>
                <a:cs typeface="Calibri" pitchFamily="34" charset="-120"/>
              </a:rPr>
              <a:t>Requirement Gathering &amp; Project Planning</a:t>
            </a:r>
            <a:endParaRPr lang="en-US" sz="1450" dirty="0"/>
          </a:p>
        </p:txBody>
      </p:sp>
      <p:sp>
        <p:nvSpPr>
          <p:cNvPr id="13" name="Text 11"/>
          <p:cNvSpPr/>
          <p:nvPr/>
        </p:nvSpPr>
        <p:spPr>
          <a:xfrm>
            <a:off x="1133856" y="2798064"/>
            <a:ext cx="4550512" cy="402336"/>
          </a:xfrm>
          <a:prstGeom prst="rect">
            <a:avLst/>
          </a:prstGeom>
          <a:noFill/>
          <a:ln/>
        </p:spPr>
        <p:txBody>
          <a:bodyPr wrap="square" lIns="0" tIns="0" rIns="0" bIns="0" rtlCol="0" anchor="ctr"/>
          <a:lstStyle/>
          <a:p>
            <a:pPr marL="0" indent="0">
              <a:lnSpc>
                <a:spcPts val="1700"/>
              </a:lnSpc>
              <a:buNone/>
            </a:pPr>
            <a:r>
              <a:rPr lang="en-US" sz="1400" dirty="0">
                <a:solidFill>
                  <a:srgbClr val="2E3A3A"/>
                </a:solidFill>
                <a:latin typeface="Calibri" pitchFamily="34" charset="0"/>
                <a:ea typeface="Calibri" pitchFamily="34" charset="-122"/>
                <a:cs typeface="Calibri" pitchFamily="34" charset="-120"/>
              </a:rPr>
              <a:t>Create, prioritise and track requirements; plan milestones, sprints and resources.</a:t>
            </a:r>
            <a:endParaRPr lang="en-US" sz="1400" dirty="0"/>
          </a:p>
        </p:txBody>
      </p:sp>
      <p:sp>
        <p:nvSpPr>
          <p:cNvPr id="14" name="Shape 12"/>
          <p:cNvSpPr/>
          <p:nvPr/>
        </p:nvSpPr>
        <p:spPr>
          <a:xfrm>
            <a:off x="548640" y="3364992"/>
            <a:ext cx="5318608" cy="841248"/>
          </a:xfrm>
          <a:prstGeom prst="roundRect">
            <a:avLst>
              <a:gd name="adj" fmla="val 6522"/>
            </a:avLst>
          </a:prstGeom>
          <a:solidFill>
            <a:srgbClr val="FFFFFF"/>
          </a:solidFill>
          <a:ln w="12700">
            <a:solidFill>
              <a:srgbClr val="DFDBD2"/>
            </a:solidFill>
            <a:prstDash val="solid"/>
          </a:ln>
        </p:spPr>
      </p:sp>
      <p:sp>
        <p:nvSpPr>
          <p:cNvPr id="15" name="Shape 13"/>
          <p:cNvSpPr/>
          <p:nvPr/>
        </p:nvSpPr>
        <p:spPr>
          <a:xfrm>
            <a:off x="731520" y="3511296"/>
            <a:ext cx="310896" cy="310896"/>
          </a:xfrm>
          <a:prstGeom prst="ellipse">
            <a:avLst/>
          </a:prstGeom>
          <a:solidFill>
            <a:srgbClr val="1F6F6B"/>
          </a:solidFill>
          <a:ln w="12700">
            <a:solidFill>
              <a:srgbClr val="1F6F6B"/>
            </a:solidFill>
            <a:prstDash val="solid"/>
          </a:ln>
        </p:spPr>
      </p:sp>
      <p:sp>
        <p:nvSpPr>
          <p:cNvPr id="16" name="Text 14"/>
          <p:cNvSpPr/>
          <p:nvPr/>
        </p:nvSpPr>
        <p:spPr>
          <a:xfrm>
            <a:off x="731520" y="3511296"/>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133856" y="3465576"/>
            <a:ext cx="4550512" cy="274320"/>
          </a:xfrm>
          <a:prstGeom prst="rect">
            <a:avLst/>
          </a:prstGeom>
          <a:noFill/>
          <a:ln/>
        </p:spPr>
        <p:txBody>
          <a:bodyPr wrap="square" lIns="0" tIns="0" rIns="0" bIns="0" rtlCol="0" anchor="ctr"/>
          <a:lstStyle/>
          <a:p>
            <a:pPr marL="0" indent="0">
              <a:buNone/>
            </a:pPr>
            <a:r>
              <a:rPr lang="en-US" sz="1450" b="1" dirty="0">
                <a:solidFill>
                  <a:srgbClr val="1F6F6B"/>
                </a:solidFill>
                <a:latin typeface="Calibri" pitchFamily="34" charset="0"/>
                <a:ea typeface="Calibri" pitchFamily="34" charset="-122"/>
                <a:cs typeface="Calibri" pitchFamily="34" charset="-120"/>
              </a:rPr>
              <a:t>Task Assignment &amp; Sprint Management</a:t>
            </a:r>
            <a:endParaRPr lang="en-US" sz="1450" dirty="0"/>
          </a:p>
        </p:txBody>
      </p:sp>
      <p:sp>
        <p:nvSpPr>
          <p:cNvPr id="18" name="Text 16"/>
          <p:cNvSpPr/>
          <p:nvPr/>
        </p:nvSpPr>
        <p:spPr>
          <a:xfrm>
            <a:off x="1133856" y="3739896"/>
            <a:ext cx="4550512" cy="402336"/>
          </a:xfrm>
          <a:prstGeom prst="rect">
            <a:avLst/>
          </a:prstGeom>
          <a:noFill/>
          <a:ln/>
        </p:spPr>
        <p:txBody>
          <a:bodyPr wrap="square" lIns="0" tIns="0" rIns="0" bIns="0" rtlCol="0" anchor="ctr"/>
          <a:lstStyle/>
          <a:p>
            <a:pPr marL="0" indent="0">
              <a:lnSpc>
                <a:spcPts val="1700"/>
              </a:lnSpc>
              <a:buNone/>
            </a:pPr>
            <a:r>
              <a:rPr lang="en-US" sz="1400" dirty="0">
                <a:solidFill>
                  <a:srgbClr val="2E3A3A"/>
                </a:solidFill>
                <a:latin typeface="Calibri" pitchFamily="34" charset="0"/>
                <a:ea typeface="Calibri" pitchFamily="34" charset="-122"/>
                <a:cs typeface="Calibri" pitchFamily="34" charset="-120"/>
              </a:rPr>
              <a:t>Assign tasks, set deadlines and run Agile sprints on Scrum or Kanban boards.</a:t>
            </a:r>
            <a:endParaRPr lang="en-US" sz="1400" dirty="0"/>
          </a:p>
        </p:txBody>
      </p:sp>
      <p:sp>
        <p:nvSpPr>
          <p:cNvPr id="19" name="Shape 17"/>
          <p:cNvSpPr/>
          <p:nvPr/>
        </p:nvSpPr>
        <p:spPr>
          <a:xfrm>
            <a:off x="548640" y="4306824"/>
            <a:ext cx="5318608" cy="841248"/>
          </a:xfrm>
          <a:prstGeom prst="roundRect">
            <a:avLst>
              <a:gd name="adj" fmla="val 6522"/>
            </a:avLst>
          </a:prstGeom>
          <a:solidFill>
            <a:srgbClr val="FFFFFF"/>
          </a:solidFill>
          <a:ln w="12700">
            <a:solidFill>
              <a:srgbClr val="DFDBD2"/>
            </a:solidFill>
            <a:prstDash val="solid"/>
          </a:ln>
        </p:spPr>
      </p:sp>
      <p:sp>
        <p:nvSpPr>
          <p:cNvPr id="20" name="Shape 18"/>
          <p:cNvSpPr/>
          <p:nvPr/>
        </p:nvSpPr>
        <p:spPr>
          <a:xfrm>
            <a:off x="731520" y="4453128"/>
            <a:ext cx="310896" cy="310896"/>
          </a:xfrm>
          <a:prstGeom prst="ellipse">
            <a:avLst/>
          </a:prstGeom>
          <a:solidFill>
            <a:srgbClr val="1F6F6B"/>
          </a:solidFill>
          <a:ln w="12700">
            <a:solidFill>
              <a:srgbClr val="1F6F6B"/>
            </a:solidFill>
            <a:prstDash val="solid"/>
          </a:ln>
        </p:spPr>
      </p:sp>
      <p:sp>
        <p:nvSpPr>
          <p:cNvPr id="21" name="Text 19"/>
          <p:cNvSpPr/>
          <p:nvPr/>
        </p:nvSpPr>
        <p:spPr>
          <a:xfrm>
            <a:off x="731520" y="4453128"/>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1133856" y="4407408"/>
            <a:ext cx="4550512" cy="274320"/>
          </a:xfrm>
          <a:prstGeom prst="rect">
            <a:avLst/>
          </a:prstGeom>
          <a:noFill/>
          <a:ln/>
        </p:spPr>
        <p:txBody>
          <a:bodyPr wrap="square" lIns="0" tIns="0" rIns="0" bIns="0" rtlCol="0" anchor="ctr"/>
          <a:lstStyle/>
          <a:p>
            <a:pPr marL="0" indent="0">
              <a:buNone/>
            </a:pPr>
            <a:r>
              <a:rPr lang="en-US" sz="1450" b="1" dirty="0">
                <a:solidFill>
                  <a:srgbClr val="1F6F6B"/>
                </a:solidFill>
                <a:latin typeface="Calibri" pitchFamily="34" charset="0"/>
                <a:ea typeface="Calibri" pitchFamily="34" charset="-122"/>
                <a:cs typeface="Calibri" pitchFamily="34" charset="-120"/>
              </a:rPr>
              <a:t>AI-Assisted Code Generation &amp; Documentation</a:t>
            </a:r>
            <a:endParaRPr lang="en-US" sz="1450" dirty="0"/>
          </a:p>
        </p:txBody>
      </p:sp>
      <p:sp>
        <p:nvSpPr>
          <p:cNvPr id="23" name="Text 21"/>
          <p:cNvSpPr/>
          <p:nvPr/>
        </p:nvSpPr>
        <p:spPr>
          <a:xfrm>
            <a:off x="1133856" y="4681728"/>
            <a:ext cx="4550512" cy="402336"/>
          </a:xfrm>
          <a:prstGeom prst="rect">
            <a:avLst/>
          </a:prstGeom>
          <a:noFill/>
          <a:ln/>
        </p:spPr>
        <p:txBody>
          <a:bodyPr wrap="square" lIns="0" tIns="0" rIns="0" bIns="0" rtlCol="0" anchor="ctr"/>
          <a:lstStyle/>
          <a:p>
            <a:pPr marL="0" indent="0">
              <a:lnSpc>
                <a:spcPts val="1700"/>
              </a:lnSpc>
              <a:buNone/>
            </a:pPr>
            <a:r>
              <a:rPr lang="en-US" sz="1400" dirty="0">
                <a:solidFill>
                  <a:srgbClr val="2E3A3A"/>
                </a:solidFill>
                <a:latin typeface="Calibri" pitchFamily="34" charset="0"/>
                <a:ea typeface="Calibri" pitchFamily="34" charset="-122"/>
                <a:cs typeface="Calibri" pitchFamily="34" charset="-120"/>
              </a:rPr>
              <a:t>AI drafts code snippets, recommends solutions and writes technical documentation.</a:t>
            </a:r>
            <a:endParaRPr lang="en-US" sz="1400" dirty="0"/>
          </a:p>
        </p:txBody>
      </p:sp>
      <p:sp>
        <p:nvSpPr>
          <p:cNvPr id="24" name="Shape 22"/>
          <p:cNvSpPr/>
          <p:nvPr/>
        </p:nvSpPr>
        <p:spPr>
          <a:xfrm>
            <a:off x="548640" y="5248656"/>
            <a:ext cx="5318608" cy="841248"/>
          </a:xfrm>
          <a:prstGeom prst="roundRect">
            <a:avLst>
              <a:gd name="adj" fmla="val 6522"/>
            </a:avLst>
          </a:prstGeom>
          <a:solidFill>
            <a:srgbClr val="FFFFFF"/>
          </a:solidFill>
          <a:ln w="12700">
            <a:solidFill>
              <a:srgbClr val="DFDBD2"/>
            </a:solidFill>
            <a:prstDash val="solid"/>
          </a:ln>
        </p:spPr>
      </p:sp>
      <p:sp>
        <p:nvSpPr>
          <p:cNvPr id="25" name="Shape 23"/>
          <p:cNvSpPr/>
          <p:nvPr/>
        </p:nvSpPr>
        <p:spPr>
          <a:xfrm>
            <a:off x="731520" y="5394960"/>
            <a:ext cx="310896" cy="310896"/>
          </a:xfrm>
          <a:prstGeom prst="ellipse">
            <a:avLst/>
          </a:prstGeom>
          <a:solidFill>
            <a:srgbClr val="1F6F6B"/>
          </a:solidFill>
          <a:ln w="12700">
            <a:solidFill>
              <a:srgbClr val="1F6F6B"/>
            </a:solidFill>
            <a:prstDash val="solid"/>
          </a:ln>
        </p:spPr>
      </p:sp>
      <p:sp>
        <p:nvSpPr>
          <p:cNvPr id="26" name="Text 24"/>
          <p:cNvSpPr/>
          <p:nvPr/>
        </p:nvSpPr>
        <p:spPr>
          <a:xfrm>
            <a:off x="731520" y="5394960"/>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p:nvPr/>
        </p:nvSpPr>
        <p:spPr>
          <a:xfrm>
            <a:off x="1133856" y="5349240"/>
            <a:ext cx="4550512" cy="274320"/>
          </a:xfrm>
          <a:prstGeom prst="rect">
            <a:avLst/>
          </a:prstGeom>
          <a:noFill/>
          <a:ln/>
        </p:spPr>
        <p:txBody>
          <a:bodyPr wrap="square" lIns="0" tIns="0" rIns="0" bIns="0" rtlCol="0" anchor="ctr"/>
          <a:lstStyle/>
          <a:p>
            <a:pPr marL="0" indent="0">
              <a:buNone/>
            </a:pPr>
            <a:r>
              <a:rPr lang="en-US" sz="1450" b="1" dirty="0">
                <a:solidFill>
                  <a:srgbClr val="1F6F6B"/>
                </a:solidFill>
                <a:latin typeface="Calibri" pitchFamily="34" charset="0"/>
                <a:ea typeface="Calibri" pitchFamily="34" charset="-122"/>
                <a:cs typeface="Calibri" pitchFamily="34" charset="-120"/>
              </a:rPr>
              <a:t>Git Integration &amp; Version Control</a:t>
            </a:r>
            <a:endParaRPr lang="en-US" sz="1450" dirty="0"/>
          </a:p>
        </p:txBody>
      </p:sp>
      <p:sp>
        <p:nvSpPr>
          <p:cNvPr id="28" name="Text 26"/>
          <p:cNvSpPr/>
          <p:nvPr/>
        </p:nvSpPr>
        <p:spPr>
          <a:xfrm>
            <a:off x="1133856" y="5623560"/>
            <a:ext cx="4550512" cy="402336"/>
          </a:xfrm>
          <a:prstGeom prst="rect">
            <a:avLst/>
          </a:prstGeom>
          <a:noFill/>
          <a:ln/>
        </p:spPr>
        <p:txBody>
          <a:bodyPr wrap="square" lIns="0" tIns="0" rIns="0" bIns="0" rtlCol="0" anchor="ctr"/>
          <a:lstStyle/>
          <a:p>
            <a:pPr marL="0" indent="0">
              <a:lnSpc>
                <a:spcPts val="1700"/>
              </a:lnSpc>
              <a:buNone/>
            </a:pPr>
            <a:r>
              <a:rPr lang="en-US" sz="1400" dirty="0">
                <a:solidFill>
                  <a:srgbClr val="2E3A3A"/>
                </a:solidFill>
                <a:latin typeface="Calibri" pitchFamily="34" charset="0"/>
                <a:ea typeface="Calibri" pitchFamily="34" charset="-122"/>
                <a:cs typeface="Calibri" pitchFamily="34" charset="-120"/>
              </a:rPr>
              <a:t>Branching, version tracking, pull requests, merges and review on connected repos.</a:t>
            </a:r>
            <a:endParaRPr lang="en-US" sz="1400" dirty="0"/>
          </a:p>
        </p:txBody>
      </p:sp>
      <p:sp>
        <p:nvSpPr>
          <p:cNvPr id="29" name="Shape 27"/>
          <p:cNvSpPr/>
          <p:nvPr/>
        </p:nvSpPr>
        <p:spPr>
          <a:xfrm>
            <a:off x="6324448" y="1481328"/>
            <a:ext cx="5318608" cy="841248"/>
          </a:xfrm>
          <a:prstGeom prst="roundRect">
            <a:avLst>
              <a:gd name="adj" fmla="val 6522"/>
            </a:avLst>
          </a:prstGeom>
          <a:solidFill>
            <a:srgbClr val="FFFFFF"/>
          </a:solidFill>
          <a:ln w="12700">
            <a:solidFill>
              <a:srgbClr val="DFDBD2"/>
            </a:solidFill>
            <a:prstDash val="solid"/>
          </a:ln>
        </p:spPr>
      </p:sp>
      <p:sp>
        <p:nvSpPr>
          <p:cNvPr id="30" name="Shape 28"/>
          <p:cNvSpPr/>
          <p:nvPr/>
        </p:nvSpPr>
        <p:spPr>
          <a:xfrm>
            <a:off x="6507328" y="1627632"/>
            <a:ext cx="310896" cy="310896"/>
          </a:xfrm>
          <a:prstGeom prst="ellipse">
            <a:avLst/>
          </a:prstGeom>
          <a:solidFill>
            <a:srgbClr val="C97B3C"/>
          </a:solidFill>
          <a:ln w="12700">
            <a:solidFill>
              <a:srgbClr val="C97B3C"/>
            </a:solidFill>
            <a:prstDash val="solid"/>
          </a:ln>
        </p:spPr>
      </p:sp>
      <p:sp>
        <p:nvSpPr>
          <p:cNvPr id="31" name="Text 29"/>
          <p:cNvSpPr/>
          <p:nvPr/>
        </p:nvSpPr>
        <p:spPr>
          <a:xfrm>
            <a:off x="6507328" y="1627632"/>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2" name="Text 30"/>
          <p:cNvSpPr/>
          <p:nvPr/>
        </p:nvSpPr>
        <p:spPr>
          <a:xfrm>
            <a:off x="6909664" y="1581912"/>
            <a:ext cx="4550512" cy="274320"/>
          </a:xfrm>
          <a:prstGeom prst="rect">
            <a:avLst/>
          </a:prstGeom>
          <a:noFill/>
          <a:ln/>
        </p:spPr>
        <p:txBody>
          <a:bodyPr wrap="square" lIns="0" tIns="0" rIns="0" bIns="0" rtlCol="0" anchor="ctr"/>
          <a:lstStyle/>
          <a:p>
            <a:pPr marL="0" indent="0">
              <a:buNone/>
            </a:pPr>
            <a:r>
              <a:rPr lang="en-US" sz="1450" b="1" dirty="0">
                <a:solidFill>
                  <a:srgbClr val="1F6F6B"/>
                </a:solidFill>
                <a:latin typeface="Calibri" pitchFamily="34" charset="0"/>
                <a:ea typeface="Calibri" pitchFamily="34" charset="-122"/>
                <a:cs typeface="Calibri" pitchFamily="34" charset="-120"/>
              </a:rPr>
              <a:t>Automated Testing &amp; Bug Tracking</a:t>
            </a:r>
            <a:endParaRPr lang="en-US" sz="1450" dirty="0"/>
          </a:p>
        </p:txBody>
      </p:sp>
      <p:sp>
        <p:nvSpPr>
          <p:cNvPr id="33" name="Text 31"/>
          <p:cNvSpPr/>
          <p:nvPr/>
        </p:nvSpPr>
        <p:spPr>
          <a:xfrm>
            <a:off x="6909664" y="1856232"/>
            <a:ext cx="4550512" cy="402336"/>
          </a:xfrm>
          <a:prstGeom prst="rect">
            <a:avLst/>
          </a:prstGeom>
          <a:noFill/>
          <a:ln/>
        </p:spPr>
        <p:txBody>
          <a:bodyPr wrap="square" lIns="0" tIns="0" rIns="0" bIns="0" rtlCol="0" anchor="ctr"/>
          <a:lstStyle/>
          <a:p>
            <a:pPr marL="0" indent="0">
              <a:lnSpc>
                <a:spcPts val="1700"/>
              </a:lnSpc>
              <a:buNone/>
            </a:pPr>
            <a:r>
              <a:rPr lang="en-US" sz="1400" dirty="0">
                <a:solidFill>
                  <a:srgbClr val="2E3A3A"/>
                </a:solidFill>
                <a:latin typeface="Calibri" pitchFamily="34" charset="0"/>
                <a:ea typeface="Calibri" pitchFamily="34" charset="-122"/>
                <a:cs typeface="Calibri" pitchFamily="34" charset="-120"/>
              </a:rPr>
              <a:t>Executes test cases, identifies defects and centralises reporting and bug tracking.</a:t>
            </a:r>
            <a:endParaRPr lang="en-US" sz="1400" dirty="0"/>
          </a:p>
        </p:txBody>
      </p:sp>
      <p:sp>
        <p:nvSpPr>
          <p:cNvPr id="34" name="Shape 32"/>
          <p:cNvSpPr/>
          <p:nvPr/>
        </p:nvSpPr>
        <p:spPr>
          <a:xfrm>
            <a:off x="6324448" y="2423160"/>
            <a:ext cx="5318608" cy="841248"/>
          </a:xfrm>
          <a:prstGeom prst="roundRect">
            <a:avLst>
              <a:gd name="adj" fmla="val 6522"/>
            </a:avLst>
          </a:prstGeom>
          <a:solidFill>
            <a:srgbClr val="FFFFFF"/>
          </a:solidFill>
          <a:ln w="12700">
            <a:solidFill>
              <a:srgbClr val="DFDBD2"/>
            </a:solidFill>
            <a:prstDash val="solid"/>
          </a:ln>
        </p:spPr>
      </p:sp>
      <p:sp>
        <p:nvSpPr>
          <p:cNvPr id="35" name="Shape 33"/>
          <p:cNvSpPr/>
          <p:nvPr/>
        </p:nvSpPr>
        <p:spPr>
          <a:xfrm>
            <a:off x="6507328" y="2569464"/>
            <a:ext cx="310896" cy="310896"/>
          </a:xfrm>
          <a:prstGeom prst="ellipse">
            <a:avLst/>
          </a:prstGeom>
          <a:solidFill>
            <a:srgbClr val="C97B3C"/>
          </a:solidFill>
          <a:ln w="12700">
            <a:solidFill>
              <a:srgbClr val="C97B3C"/>
            </a:solidFill>
            <a:prstDash val="solid"/>
          </a:ln>
        </p:spPr>
      </p:sp>
      <p:sp>
        <p:nvSpPr>
          <p:cNvPr id="36" name="Text 34"/>
          <p:cNvSpPr/>
          <p:nvPr/>
        </p:nvSpPr>
        <p:spPr>
          <a:xfrm>
            <a:off x="6507328" y="2569464"/>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7" name="Text 35"/>
          <p:cNvSpPr/>
          <p:nvPr/>
        </p:nvSpPr>
        <p:spPr>
          <a:xfrm>
            <a:off x="6909664" y="2523744"/>
            <a:ext cx="4550512" cy="274320"/>
          </a:xfrm>
          <a:prstGeom prst="rect">
            <a:avLst/>
          </a:prstGeom>
          <a:noFill/>
          <a:ln/>
        </p:spPr>
        <p:txBody>
          <a:bodyPr wrap="square" lIns="0" tIns="0" rIns="0" bIns="0" rtlCol="0" anchor="ctr"/>
          <a:lstStyle/>
          <a:p>
            <a:pPr marL="0" indent="0">
              <a:buNone/>
            </a:pPr>
            <a:r>
              <a:rPr lang="en-US" sz="1450" b="1" dirty="0">
                <a:solidFill>
                  <a:srgbClr val="1F6F6B"/>
                </a:solidFill>
                <a:latin typeface="Calibri" pitchFamily="34" charset="0"/>
                <a:ea typeface="Calibri" pitchFamily="34" charset="-122"/>
                <a:cs typeface="Calibri" pitchFamily="34" charset="-120"/>
              </a:rPr>
              <a:t>CI/CD Pipeline for Build &amp; Deployment</a:t>
            </a:r>
            <a:endParaRPr lang="en-US" sz="1450" dirty="0"/>
          </a:p>
        </p:txBody>
      </p:sp>
      <p:sp>
        <p:nvSpPr>
          <p:cNvPr id="38" name="Text 36"/>
          <p:cNvSpPr/>
          <p:nvPr/>
        </p:nvSpPr>
        <p:spPr>
          <a:xfrm>
            <a:off x="6909664" y="2798064"/>
            <a:ext cx="4550512" cy="402336"/>
          </a:xfrm>
          <a:prstGeom prst="rect">
            <a:avLst/>
          </a:prstGeom>
          <a:noFill/>
          <a:ln/>
        </p:spPr>
        <p:txBody>
          <a:bodyPr wrap="square" lIns="0" tIns="0" rIns="0" bIns="0" rtlCol="0" anchor="ctr"/>
          <a:lstStyle/>
          <a:p>
            <a:pPr marL="0" indent="0">
              <a:lnSpc>
                <a:spcPts val="1700"/>
              </a:lnSpc>
              <a:buNone/>
            </a:pPr>
            <a:r>
              <a:rPr lang="en-US" sz="1400" dirty="0">
                <a:solidFill>
                  <a:srgbClr val="2E3A3A"/>
                </a:solidFill>
                <a:latin typeface="Calibri" pitchFamily="34" charset="0"/>
                <a:ea typeface="Calibri" pitchFamily="34" charset="-122"/>
                <a:cs typeface="Calibri" pitchFamily="34" charset="-120"/>
              </a:rPr>
              <a:t>Automates build, test and deployment for faster and more reliable releases.</a:t>
            </a:r>
            <a:endParaRPr lang="en-US" sz="1400" dirty="0"/>
          </a:p>
        </p:txBody>
      </p:sp>
      <p:sp>
        <p:nvSpPr>
          <p:cNvPr id="39" name="Shape 37"/>
          <p:cNvSpPr/>
          <p:nvPr/>
        </p:nvSpPr>
        <p:spPr>
          <a:xfrm>
            <a:off x="6324448" y="3364992"/>
            <a:ext cx="5318608" cy="841248"/>
          </a:xfrm>
          <a:prstGeom prst="roundRect">
            <a:avLst>
              <a:gd name="adj" fmla="val 6522"/>
            </a:avLst>
          </a:prstGeom>
          <a:solidFill>
            <a:srgbClr val="FFFFFF"/>
          </a:solidFill>
          <a:ln w="12700">
            <a:solidFill>
              <a:srgbClr val="DFDBD2"/>
            </a:solidFill>
            <a:prstDash val="solid"/>
          </a:ln>
        </p:spPr>
      </p:sp>
      <p:sp>
        <p:nvSpPr>
          <p:cNvPr id="40" name="Shape 38"/>
          <p:cNvSpPr/>
          <p:nvPr/>
        </p:nvSpPr>
        <p:spPr>
          <a:xfrm>
            <a:off x="6507328" y="3511296"/>
            <a:ext cx="310896" cy="310896"/>
          </a:xfrm>
          <a:prstGeom prst="ellipse">
            <a:avLst/>
          </a:prstGeom>
          <a:solidFill>
            <a:srgbClr val="C97B3C"/>
          </a:solidFill>
          <a:ln w="12700">
            <a:solidFill>
              <a:srgbClr val="C97B3C"/>
            </a:solidFill>
            <a:prstDash val="solid"/>
          </a:ln>
        </p:spPr>
      </p:sp>
      <p:sp>
        <p:nvSpPr>
          <p:cNvPr id="41" name="Text 39"/>
          <p:cNvSpPr/>
          <p:nvPr/>
        </p:nvSpPr>
        <p:spPr>
          <a:xfrm>
            <a:off x="6507328" y="3511296"/>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2" name="Text 40"/>
          <p:cNvSpPr/>
          <p:nvPr/>
        </p:nvSpPr>
        <p:spPr>
          <a:xfrm>
            <a:off x="6909664" y="3465576"/>
            <a:ext cx="4550512" cy="274320"/>
          </a:xfrm>
          <a:prstGeom prst="rect">
            <a:avLst/>
          </a:prstGeom>
          <a:noFill/>
          <a:ln/>
        </p:spPr>
        <p:txBody>
          <a:bodyPr wrap="square" lIns="0" tIns="0" rIns="0" bIns="0" rtlCol="0" anchor="ctr"/>
          <a:lstStyle/>
          <a:p>
            <a:pPr marL="0" indent="0">
              <a:buNone/>
            </a:pPr>
            <a:r>
              <a:rPr lang="en-US" sz="1450" b="1" dirty="0">
                <a:solidFill>
                  <a:srgbClr val="1F6F6B"/>
                </a:solidFill>
                <a:latin typeface="Calibri" pitchFamily="34" charset="0"/>
                <a:ea typeface="Calibri" pitchFamily="34" charset="-122"/>
                <a:cs typeface="Calibri" pitchFamily="34" charset="-120"/>
              </a:rPr>
              <a:t>Dashboards, Reports &amp; Project Analytics</a:t>
            </a:r>
            <a:endParaRPr lang="en-US" sz="1450" dirty="0"/>
          </a:p>
        </p:txBody>
      </p:sp>
      <p:sp>
        <p:nvSpPr>
          <p:cNvPr id="43" name="Text 41"/>
          <p:cNvSpPr/>
          <p:nvPr/>
        </p:nvSpPr>
        <p:spPr>
          <a:xfrm>
            <a:off x="6909664" y="3739896"/>
            <a:ext cx="4550512" cy="402336"/>
          </a:xfrm>
          <a:prstGeom prst="rect">
            <a:avLst/>
          </a:prstGeom>
          <a:noFill/>
          <a:ln/>
        </p:spPr>
        <p:txBody>
          <a:bodyPr wrap="square" lIns="0" tIns="0" rIns="0" bIns="0" rtlCol="0" anchor="ctr"/>
          <a:lstStyle/>
          <a:p>
            <a:pPr marL="0" indent="0">
              <a:lnSpc>
                <a:spcPts val="1700"/>
              </a:lnSpc>
              <a:buNone/>
            </a:pPr>
            <a:r>
              <a:rPr lang="en-US" sz="1400" dirty="0">
                <a:solidFill>
                  <a:srgbClr val="2E3A3A"/>
                </a:solidFill>
                <a:latin typeface="Calibri" pitchFamily="34" charset="0"/>
                <a:ea typeface="Calibri" pitchFamily="34" charset="-122"/>
                <a:cs typeface="Calibri" pitchFamily="34" charset="-120"/>
              </a:rPr>
              <a:t>Live views of progress, sprint status, productivity, defects and deployments.</a:t>
            </a:r>
            <a:endParaRPr lang="en-US" sz="1400" dirty="0"/>
          </a:p>
        </p:txBody>
      </p:sp>
      <p:sp>
        <p:nvSpPr>
          <p:cNvPr id="44" name="Shape 42"/>
          <p:cNvSpPr/>
          <p:nvPr/>
        </p:nvSpPr>
        <p:spPr>
          <a:xfrm>
            <a:off x="6324448" y="4306824"/>
            <a:ext cx="5318608" cy="841248"/>
          </a:xfrm>
          <a:prstGeom prst="roundRect">
            <a:avLst>
              <a:gd name="adj" fmla="val 6522"/>
            </a:avLst>
          </a:prstGeom>
          <a:solidFill>
            <a:srgbClr val="FFFFFF"/>
          </a:solidFill>
          <a:ln w="12700">
            <a:solidFill>
              <a:srgbClr val="DFDBD2"/>
            </a:solidFill>
            <a:prstDash val="solid"/>
          </a:ln>
        </p:spPr>
      </p:sp>
      <p:sp>
        <p:nvSpPr>
          <p:cNvPr id="45" name="Shape 43"/>
          <p:cNvSpPr/>
          <p:nvPr/>
        </p:nvSpPr>
        <p:spPr>
          <a:xfrm>
            <a:off x="6507328" y="4453128"/>
            <a:ext cx="310896" cy="310896"/>
          </a:xfrm>
          <a:prstGeom prst="ellipse">
            <a:avLst/>
          </a:prstGeom>
          <a:solidFill>
            <a:srgbClr val="C97B3C"/>
          </a:solidFill>
          <a:ln w="12700">
            <a:solidFill>
              <a:srgbClr val="C97B3C"/>
            </a:solidFill>
            <a:prstDash val="solid"/>
          </a:ln>
        </p:spPr>
      </p:sp>
      <p:sp>
        <p:nvSpPr>
          <p:cNvPr id="46" name="Text 44"/>
          <p:cNvSpPr/>
          <p:nvPr/>
        </p:nvSpPr>
        <p:spPr>
          <a:xfrm>
            <a:off x="6507328" y="4453128"/>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47" name="Text 45"/>
          <p:cNvSpPr/>
          <p:nvPr/>
        </p:nvSpPr>
        <p:spPr>
          <a:xfrm>
            <a:off x="6909664" y="4407408"/>
            <a:ext cx="4550512" cy="274320"/>
          </a:xfrm>
          <a:prstGeom prst="rect">
            <a:avLst/>
          </a:prstGeom>
          <a:noFill/>
          <a:ln/>
        </p:spPr>
        <p:txBody>
          <a:bodyPr wrap="square" lIns="0" tIns="0" rIns="0" bIns="0" rtlCol="0" anchor="ctr"/>
          <a:lstStyle/>
          <a:p>
            <a:pPr marL="0" indent="0">
              <a:buNone/>
            </a:pPr>
            <a:r>
              <a:rPr lang="en-US" sz="1450" b="1" dirty="0">
                <a:solidFill>
                  <a:srgbClr val="1F6F6B"/>
                </a:solidFill>
                <a:latin typeface="Calibri" pitchFamily="34" charset="0"/>
                <a:ea typeface="Calibri" pitchFamily="34" charset="-122"/>
                <a:cs typeface="Calibri" pitchFamily="34" charset="-120"/>
              </a:rPr>
              <a:t>Performance Monitoring &amp; Maintenance</a:t>
            </a:r>
            <a:endParaRPr lang="en-US" sz="1450" dirty="0"/>
          </a:p>
        </p:txBody>
      </p:sp>
      <p:sp>
        <p:nvSpPr>
          <p:cNvPr id="48" name="Text 46"/>
          <p:cNvSpPr/>
          <p:nvPr/>
        </p:nvSpPr>
        <p:spPr>
          <a:xfrm>
            <a:off x="6909664" y="4681728"/>
            <a:ext cx="4550512" cy="402336"/>
          </a:xfrm>
          <a:prstGeom prst="rect">
            <a:avLst/>
          </a:prstGeom>
          <a:noFill/>
          <a:ln/>
        </p:spPr>
        <p:txBody>
          <a:bodyPr wrap="square" lIns="0" tIns="0" rIns="0" bIns="0" rtlCol="0" anchor="ctr"/>
          <a:lstStyle/>
          <a:p>
            <a:pPr marL="0" indent="0">
              <a:lnSpc>
                <a:spcPts val="1700"/>
              </a:lnSpc>
              <a:buNone/>
            </a:pPr>
            <a:r>
              <a:rPr lang="en-US" sz="1400" dirty="0">
                <a:solidFill>
                  <a:srgbClr val="2E3A3A"/>
                </a:solidFill>
                <a:latin typeface="Calibri" pitchFamily="34" charset="0"/>
                <a:ea typeface="Calibri" pitchFamily="34" charset="-122"/>
                <a:cs typeface="Calibri" pitchFamily="34" charset="-120"/>
              </a:rPr>
              <a:t>Monitors application performance, server health, resource use and system logs.</a:t>
            </a:r>
            <a:endParaRPr lang="en-US" sz="1400" dirty="0"/>
          </a:p>
        </p:txBody>
      </p:sp>
      <p:sp>
        <p:nvSpPr>
          <p:cNvPr id="49" name="Text 47"/>
          <p:cNvSpPr/>
          <p:nvPr/>
        </p:nvSpPr>
        <p:spPr>
          <a:xfrm>
            <a:off x="548640" y="6272784"/>
            <a:ext cx="7315200" cy="274320"/>
          </a:xfrm>
          <a:prstGeom prst="rect">
            <a:avLst/>
          </a:prstGeom>
          <a:noFill/>
          <a:ln/>
        </p:spPr>
        <p:txBody>
          <a:bodyPr wrap="square" lIns="0" tIns="0" rIns="0" bIns="0" rtlCol="0" anchor="ctr"/>
          <a:lstStyle/>
          <a:p>
            <a:pPr marL="0" indent="0" algn="l">
              <a:buNone/>
            </a:pPr>
            <a:r>
              <a:rPr lang="en-US" sz="1000" dirty="0">
                <a:solidFill>
                  <a:srgbClr val="6B7A79"/>
                </a:solidFill>
                <a:latin typeface="Calibri" pitchFamily="34" charset="0"/>
                <a:ea typeface="Calibri" pitchFamily="34" charset="-122"/>
                <a:cs typeface="Calibri" pitchFamily="34" charset="-120"/>
              </a:rPr>
              <a:t>NeuroForge Enterprise SDLC Platform</a:t>
            </a:r>
            <a:endParaRPr lang="en-US" sz="1000" dirty="0"/>
          </a:p>
        </p:txBody>
      </p:sp>
      <p:sp>
        <p:nvSpPr>
          <p:cNvPr id="50" name="Text 48"/>
          <p:cNvSpPr/>
          <p:nvPr/>
        </p:nvSpPr>
        <p:spPr>
          <a:xfrm>
            <a:off x="10545775" y="6272784"/>
            <a:ext cx="1097280" cy="274320"/>
          </a:xfrm>
          <a:prstGeom prst="rect">
            <a:avLst/>
          </a:prstGeom>
          <a:noFill/>
          <a:ln/>
        </p:spPr>
        <p:txBody>
          <a:bodyPr wrap="square" lIns="0" tIns="0" rIns="0" bIns="0" rtlCol="0" anchor="ctr"/>
          <a:lstStyle/>
          <a:p>
            <a:pPr marL="0" indent="0" algn="r">
              <a:buNone/>
            </a:pPr>
            <a:r>
              <a:rPr lang="en-US" sz="1000" dirty="0" smtClean="0">
                <a:solidFill>
                  <a:srgbClr val="6B7A79"/>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marL="0" indent="0" algn="l">
              <a:buNone/>
            </a:pPr>
            <a:r>
              <a:rPr lang="en-US" sz="3200" b="1" dirty="0">
                <a:solidFill>
                  <a:srgbClr val="1F6F6B"/>
                </a:solidFill>
                <a:latin typeface="Cambria" pitchFamily="34" charset="0"/>
                <a:ea typeface="Cambria" pitchFamily="34" charset="-122"/>
                <a:cs typeface="Cambria" pitchFamily="34" charset="-120"/>
              </a:rPr>
              <a:t>System Architecture</a:t>
            </a:r>
            <a:endParaRPr lang="en-US" sz="3200" dirty="0"/>
          </a:p>
        </p:txBody>
      </p:sp>
      <p:sp>
        <p:nvSpPr>
          <p:cNvPr id="3" name="Shape 1"/>
          <p:cNvSpPr/>
          <p:nvPr/>
        </p:nvSpPr>
        <p:spPr>
          <a:xfrm>
            <a:off x="4449928" y="1298448"/>
            <a:ext cx="3291840" cy="566928"/>
          </a:xfrm>
          <a:prstGeom prst="roundRect">
            <a:avLst>
              <a:gd name="adj" fmla="val 11290"/>
            </a:avLst>
          </a:prstGeom>
          <a:solidFill>
            <a:srgbClr val="FFFFFF"/>
          </a:solidFill>
          <a:ln w="15875">
            <a:solidFill>
              <a:srgbClr val="C9C3B8"/>
            </a:solidFill>
            <a:prstDash val="solid"/>
          </a:ln>
          <a:effectLst>
            <a:outerShdw blurRad="63500" dist="12700" dir="5400000" algn="bl" rotWithShape="0">
              <a:srgbClr val="9A948A">
                <a:alpha val="15000"/>
              </a:srgbClr>
            </a:outerShdw>
          </a:effectLst>
        </p:spPr>
      </p:sp>
      <p:pic>
        <p:nvPicPr>
          <p:cNvPr id="4" name="Image 0" descr="preencoded.png"/>
          <p:cNvPicPr>
            <a:picLocks noChangeAspect="1"/>
          </p:cNvPicPr>
          <p:nvPr/>
        </p:nvPicPr>
        <p:blipFill>
          <a:blip r:embed="rId3"/>
          <a:stretch>
            <a:fillRect/>
          </a:stretch>
        </p:blipFill>
        <p:spPr>
          <a:xfrm>
            <a:off x="4705960" y="1453896"/>
            <a:ext cx="256032" cy="256032"/>
          </a:xfrm>
          <a:prstGeom prst="rect">
            <a:avLst/>
          </a:prstGeom>
        </p:spPr>
      </p:pic>
      <p:sp>
        <p:nvSpPr>
          <p:cNvPr id="5" name="Text 2"/>
          <p:cNvSpPr/>
          <p:nvPr/>
        </p:nvSpPr>
        <p:spPr>
          <a:xfrm>
            <a:off x="5071720" y="1298448"/>
            <a:ext cx="2468880" cy="566928"/>
          </a:xfrm>
          <a:prstGeom prst="rect">
            <a:avLst/>
          </a:prstGeom>
          <a:noFill/>
          <a:ln/>
        </p:spPr>
        <p:txBody>
          <a:bodyPr wrap="square" lIns="0" tIns="0" rIns="0" bIns="0" rtlCol="0" anchor="ctr"/>
          <a:lstStyle/>
          <a:p>
            <a:pPr marL="0" indent="0">
              <a:buNone/>
            </a:pPr>
            <a:r>
              <a:rPr lang="en-US" sz="1400" b="1" dirty="0">
                <a:solidFill>
                  <a:srgbClr val="2E3A3A"/>
                </a:solidFill>
                <a:latin typeface="Calibri" pitchFamily="34" charset="0"/>
                <a:ea typeface="Calibri" pitchFamily="34" charset="-122"/>
                <a:cs typeface="Calibri" pitchFamily="34" charset="-120"/>
              </a:rPr>
              <a:t>User</a:t>
            </a:r>
            <a:endParaRPr lang="en-US" sz="1400" dirty="0"/>
          </a:p>
        </p:txBody>
      </p:sp>
      <p:sp>
        <p:nvSpPr>
          <p:cNvPr id="6" name="Shape 3"/>
          <p:cNvSpPr/>
          <p:nvPr/>
        </p:nvSpPr>
        <p:spPr>
          <a:xfrm>
            <a:off x="6095848" y="1865376"/>
            <a:ext cx="0" cy="256032"/>
          </a:xfrm>
          <a:prstGeom prst="line">
            <a:avLst/>
          </a:prstGeom>
          <a:noFill/>
          <a:ln w="28575">
            <a:solidFill>
              <a:srgbClr val="1F6F6B"/>
            </a:solidFill>
            <a:prstDash val="solid"/>
            <a:tailEnd type="triangle"/>
          </a:ln>
        </p:spPr>
      </p:sp>
      <p:sp>
        <p:nvSpPr>
          <p:cNvPr id="7" name="Shape 4"/>
          <p:cNvSpPr/>
          <p:nvPr/>
        </p:nvSpPr>
        <p:spPr>
          <a:xfrm>
            <a:off x="4449928" y="2121408"/>
            <a:ext cx="3291840" cy="566928"/>
          </a:xfrm>
          <a:prstGeom prst="roundRect">
            <a:avLst>
              <a:gd name="adj" fmla="val 11290"/>
            </a:avLst>
          </a:prstGeom>
          <a:solidFill>
            <a:srgbClr val="FFFFFF"/>
          </a:solidFill>
          <a:ln w="15875">
            <a:solidFill>
              <a:srgbClr val="C9C3B8"/>
            </a:solidFill>
            <a:prstDash val="solid"/>
          </a:ln>
          <a:effectLst>
            <a:outerShdw blurRad="63500" dist="12700" dir="5400000" algn="bl" rotWithShape="0">
              <a:srgbClr val="9A948A">
                <a:alpha val="15000"/>
              </a:srgbClr>
            </a:outerShdw>
          </a:effectLst>
        </p:spPr>
      </p:sp>
      <p:pic>
        <p:nvPicPr>
          <p:cNvPr id="8" name="Image 1" descr="preencoded.png"/>
          <p:cNvPicPr>
            <a:picLocks noChangeAspect="1"/>
          </p:cNvPicPr>
          <p:nvPr/>
        </p:nvPicPr>
        <p:blipFill>
          <a:blip r:embed="rId4"/>
          <a:stretch>
            <a:fillRect/>
          </a:stretch>
        </p:blipFill>
        <p:spPr>
          <a:xfrm>
            <a:off x="4705960" y="2276856"/>
            <a:ext cx="256032" cy="256032"/>
          </a:xfrm>
          <a:prstGeom prst="rect">
            <a:avLst/>
          </a:prstGeom>
        </p:spPr>
      </p:pic>
      <p:sp>
        <p:nvSpPr>
          <p:cNvPr id="9" name="Text 5"/>
          <p:cNvSpPr/>
          <p:nvPr/>
        </p:nvSpPr>
        <p:spPr>
          <a:xfrm>
            <a:off x="5071720" y="2121408"/>
            <a:ext cx="2468880" cy="566928"/>
          </a:xfrm>
          <a:prstGeom prst="rect">
            <a:avLst/>
          </a:prstGeom>
          <a:noFill/>
          <a:ln/>
        </p:spPr>
        <p:txBody>
          <a:bodyPr wrap="square" lIns="0" tIns="0" rIns="0" bIns="0" rtlCol="0" anchor="ctr"/>
          <a:lstStyle/>
          <a:p>
            <a:pPr marL="0" indent="0">
              <a:buNone/>
            </a:pPr>
            <a:r>
              <a:rPr lang="en-US" sz="1400" b="1" dirty="0">
                <a:solidFill>
                  <a:srgbClr val="2E3A3A"/>
                </a:solidFill>
                <a:latin typeface="Calibri" pitchFamily="34" charset="0"/>
                <a:ea typeface="Calibri" pitchFamily="34" charset="-122"/>
                <a:cs typeface="Calibri" pitchFamily="34" charset="-120"/>
              </a:rPr>
              <a:t>React Frontend  (Presentation Layer)</a:t>
            </a:r>
            <a:endParaRPr lang="en-US" sz="1400" dirty="0"/>
          </a:p>
        </p:txBody>
      </p:sp>
      <p:sp>
        <p:nvSpPr>
          <p:cNvPr id="10" name="Shape 6"/>
          <p:cNvSpPr/>
          <p:nvPr/>
        </p:nvSpPr>
        <p:spPr>
          <a:xfrm>
            <a:off x="6095848" y="2688336"/>
            <a:ext cx="0" cy="256032"/>
          </a:xfrm>
          <a:prstGeom prst="line">
            <a:avLst/>
          </a:prstGeom>
          <a:noFill/>
          <a:ln w="28575">
            <a:solidFill>
              <a:srgbClr val="1F6F6B"/>
            </a:solidFill>
            <a:prstDash val="solid"/>
            <a:tailEnd type="triangle"/>
          </a:ln>
        </p:spPr>
      </p:sp>
      <p:sp>
        <p:nvSpPr>
          <p:cNvPr id="11" name="Shape 7"/>
          <p:cNvSpPr/>
          <p:nvPr/>
        </p:nvSpPr>
        <p:spPr>
          <a:xfrm>
            <a:off x="4449928" y="2944368"/>
            <a:ext cx="3291840" cy="566928"/>
          </a:xfrm>
          <a:prstGeom prst="roundRect">
            <a:avLst>
              <a:gd name="adj" fmla="val 11290"/>
            </a:avLst>
          </a:prstGeom>
          <a:solidFill>
            <a:srgbClr val="FFFFFF"/>
          </a:solidFill>
          <a:ln w="15875">
            <a:solidFill>
              <a:srgbClr val="C9C3B8"/>
            </a:solidFill>
            <a:prstDash val="solid"/>
          </a:ln>
          <a:effectLst>
            <a:outerShdw blurRad="63500" dist="12700" dir="5400000" algn="bl" rotWithShape="0">
              <a:srgbClr val="9A948A">
                <a:alpha val="15000"/>
              </a:srgbClr>
            </a:outerShdw>
          </a:effectLst>
        </p:spPr>
      </p:sp>
      <p:pic>
        <p:nvPicPr>
          <p:cNvPr id="12" name="Image 2" descr="preencoded.png"/>
          <p:cNvPicPr>
            <a:picLocks noChangeAspect="1"/>
          </p:cNvPicPr>
          <p:nvPr/>
        </p:nvPicPr>
        <p:blipFill>
          <a:blip r:embed="rId5"/>
          <a:stretch>
            <a:fillRect/>
          </a:stretch>
        </p:blipFill>
        <p:spPr>
          <a:xfrm>
            <a:off x="4705960" y="3099816"/>
            <a:ext cx="256032" cy="256032"/>
          </a:xfrm>
          <a:prstGeom prst="rect">
            <a:avLst/>
          </a:prstGeom>
        </p:spPr>
      </p:pic>
      <p:sp>
        <p:nvSpPr>
          <p:cNvPr id="13" name="Text 8"/>
          <p:cNvSpPr/>
          <p:nvPr/>
        </p:nvSpPr>
        <p:spPr>
          <a:xfrm>
            <a:off x="5071720" y="2944368"/>
            <a:ext cx="2468880" cy="566928"/>
          </a:xfrm>
          <a:prstGeom prst="rect">
            <a:avLst/>
          </a:prstGeom>
          <a:noFill/>
          <a:ln/>
        </p:spPr>
        <p:txBody>
          <a:bodyPr wrap="square" lIns="0" tIns="0" rIns="0" bIns="0" rtlCol="0" anchor="ctr"/>
          <a:lstStyle/>
          <a:p>
            <a:pPr marL="0" indent="0">
              <a:buNone/>
            </a:pPr>
            <a:r>
              <a:rPr lang="en-US" sz="1400" b="1" dirty="0">
                <a:solidFill>
                  <a:srgbClr val="2E3A3A"/>
                </a:solidFill>
                <a:latin typeface="Calibri" pitchFamily="34" charset="0"/>
                <a:ea typeface="Calibri" pitchFamily="34" charset="-122"/>
                <a:cs typeface="Calibri" pitchFamily="34" charset="-120"/>
              </a:rPr>
              <a:t>REST API Layer</a:t>
            </a:r>
            <a:endParaRPr lang="en-US" sz="1400" dirty="0"/>
          </a:p>
        </p:txBody>
      </p:sp>
      <p:sp>
        <p:nvSpPr>
          <p:cNvPr id="14" name="Shape 9"/>
          <p:cNvSpPr/>
          <p:nvPr/>
        </p:nvSpPr>
        <p:spPr>
          <a:xfrm>
            <a:off x="6095848" y="3511296"/>
            <a:ext cx="0" cy="256032"/>
          </a:xfrm>
          <a:prstGeom prst="line">
            <a:avLst/>
          </a:prstGeom>
          <a:noFill/>
          <a:ln w="28575">
            <a:solidFill>
              <a:srgbClr val="1F6F6B"/>
            </a:solidFill>
            <a:prstDash val="solid"/>
            <a:tailEnd type="triangle"/>
          </a:ln>
        </p:spPr>
      </p:sp>
      <p:sp>
        <p:nvSpPr>
          <p:cNvPr id="15" name="Shape 10"/>
          <p:cNvSpPr/>
          <p:nvPr/>
        </p:nvSpPr>
        <p:spPr>
          <a:xfrm>
            <a:off x="3992728" y="3767328"/>
            <a:ext cx="4206240" cy="566928"/>
          </a:xfrm>
          <a:prstGeom prst="roundRect">
            <a:avLst>
              <a:gd name="adj" fmla="val 11290"/>
            </a:avLst>
          </a:prstGeom>
          <a:solidFill>
            <a:srgbClr val="1F6F6B"/>
          </a:solidFill>
          <a:ln w="15875">
            <a:solidFill>
              <a:srgbClr val="1F6F6B"/>
            </a:solidFill>
            <a:prstDash val="solid"/>
          </a:ln>
          <a:effectLst>
            <a:outerShdw blurRad="63500" dist="12700" dir="5400000" algn="bl" rotWithShape="0">
              <a:srgbClr val="9A948A">
                <a:alpha val="15000"/>
              </a:srgbClr>
            </a:outerShdw>
          </a:effectLst>
        </p:spPr>
      </p:sp>
      <p:pic>
        <p:nvPicPr>
          <p:cNvPr id="16" name="Image 3" descr="preencoded.png"/>
          <p:cNvPicPr>
            <a:picLocks noChangeAspect="1"/>
          </p:cNvPicPr>
          <p:nvPr/>
        </p:nvPicPr>
        <p:blipFill>
          <a:blip r:embed="rId6"/>
          <a:stretch>
            <a:fillRect/>
          </a:stretch>
        </p:blipFill>
        <p:spPr>
          <a:xfrm>
            <a:off x="4248760" y="3922776"/>
            <a:ext cx="256032" cy="256032"/>
          </a:xfrm>
          <a:prstGeom prst="rect">
            <a:avLst/>
          </a:prstGeom>
        </p:spPr>
      </p:pic>
      <p:sp>
        <p:nvSpPr>
          <p:cNvPr id="17" name="Text 11"/>
          <p:cNvSpPr/>
          <p:nvPr/>
        </p:nvSpPr>
        <p:spPr>
          <a:xfrm>
            <a:off x="4614520" y="3767328"/>
            <a:ext cx="3383280" cy="56692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Spring Boot  —  Service Layer / Business Logic</a:t>
            </a:r>
            <a:endParaRPr lang="en-US" sz="1400" dirty="0"/>
          </a:p>
        </p:txBody>
      </p:sp>
      <p:sp>
        <p:nvSpPr>
          <p:cNvPr id="18" name="Shape 12"/>
          <p:cNvSpPr/>
          <p:nvPr/>
        </p:nvSpPr>
        <p:spPr>
          <a:xfrm>
            <a:off x="6095848" y="4334256"/>
            <a:ext cx="0" cy="256032"/>
          </a:xfrm>
          <a:prstGeom prst="line">
            <a:avLst/>
          </a:prstGeom>
          <a:noFill/>
          <a:ln w="28575">
            <a:solidFill>
              <a:srgbClr val="1F6F6B"/>
            </a:solidFill>
            <a:prstDash val="solid"/>
            <a:tailEnd type="triangle"/>
          </a:ln>
        </p:spPr>
      </p:sp>
      <p:sp>
        <p:nvSpPr>
          <p:cNvPr id="19" name="Shape 13"/>
          <p:cNvSpPr/>
          <p:nvPr/>
        </p:nvSpPr>
        <p:spPr>
          <a:xfrm>
            <a:off x="4449928" y="4590288"/>
            <a:ext cx="3291840" cy="566928"/>
          </a:xfrm>
          <a:prstGeom prst="roundRect">
            <a:avLst>
              <a:gd name="adj" fmla="val 11290"/>
            </a:avLst>
          </a:prstGeom>
          <a:solidFill>
            <a:srgbClr val="FFFFFF"/>
          </a:solidFill>
          <a:ln w="15875">
            <a:solidFill>
              <a:srgbClr val="C9C3B8"/>
            </a:solidFill>
            <a:prstDash val="solid"/>
          </a:ln>
          <a:effectLst>
            <a:outerShdw blurRad="63500" dist="12700" dir="5400000" algn="bl" rotWithShape="0">
              <a:srgbClr val="9A948A">
                <a:alpha val="15000"/>
              </a:srgbClr>
            </a:outerShdw>
          </a:effectLst>
        </p:spPr>
      </p:sp>
      <p:pic>
        <p:nvPicPr>
          <p:cNvPr id="20" name="Image 4" descr="preencoded.png"/>
          <p:cNvPicPr>
            <a:picLocks noChangeAspect="1"/>
          </p:cNvPicPr>
          <p:nvPr/>
        </p:nvPicPr>
        <p:blipFill>
          <a:blip r:embed="rId7"/>
          <a:stretch>
            <a:fillRect/>
          </a:stretch>
        </p:blipFill>
        <p:spPr>
          <a:xfrm>
            <a:off x="4705960" y="4745736"/>
            <a:ext cx="256032" cy="256032"/>
          </a:xfrm>
          <a:prstGeom prst="rect">
            <a:avLst/>
          </a:prstGeom>
        </p:spPr>
      </p:pic>
      <p:sp>
        <p:nvSpPr>
          <p:cNvPr id="21" name="Text 14"/>
          <p:cNvSpPr/>
          <p:nvPr/>
        </p:nvSpPr>
        <p:spPr>
          <a:xfrm>
            <a:off x="5071720" y="4590288"/>
            <a:ext cx="2468880" cy="566928"/>
          </a:xfrm>
          <a:prstGeom prst="rect">
            <a:avLst/>
          </a:prstGeom>
          <a:noFill/>
          <a:ln/>
        </p:spPr>
        <p:txBody>
          <a:bodyPr wrap="square" lIns="0" tIns="0" rIns="0" bIns="0" rtlCol="0" anchor="ctr"/>
          <a:lstStyle/>
          <a:p>
            <a:pPr marL="0" indent="0">
              <a:buNone/>
            </a:pPr>
            <a:r>
              <a:rPr lang="en-US" sz="1400" b="1" dirty="0">
                <a:solidFill>
                  <a:srgbClr val="2E3A3A"/>
                </a:solidFill>
                <a:latin typeface="Calibri" pitchFamily="34" charset="0"/>
                <a:ea typeface="Calibri" pitchFamily="34" charset="-122"/>
                <a:cs typeface="Calibri" pitchFamily="34" charset="-120"/>
              </a:rPr>
              <a:t>Data Layer  —  </a:t>
            </a:r>
            <a:r>
              <a:rPr lang="en-US" sz="1400" b="1" dirty="0" smtClean="0">
                <a:solidFill>
                  <a:srgbClr val="2E3A3A"/>
                </a:solidFill>
                <a:latin typeface="Calibri" pitchFamily="34" charset="0"/>
                <a:ea typeface="Calibri" pitchFamily="34" charset="-122"/>
                <a:cs typeface="Calibri" pitchFamily="34" charset="-120"/>
              </a:rPr>
              <a:t>MSSQL (SSMS)</a:t>
            </a:r>
            <a:endParaRPr lang="en-US" sz="1400" dirty="0"/>
          </a:p>
        </p:txBody>
      </p:sp>
      <p:sp>
        <p:nvSpPr>
          <p:cNvPr id="22" name="Shape 15"/>
          <p:cNvSpPr/>
          <p:nvPr/>
        </p:nvSpPr>
        <p:spPr>
          <a:xfrm>
            <a:off x="914400" y="3767328"/>
            <a:ext cx="2286000" cy="566928"/>
          </a:xfrm>
          <a:prstGeom prst="roundRect">
            <a:avLst>
              <a:gd name="adj" fmla="val 11290"/>
            </a:avLst>
          </a:prstGeom>
          <a:solidFill>
            <a:srgbClr val="FFFFFF"/>
          </a:solidFill>
          <a:ln w="15875">
            <a:solidFill>
              <a:srgbClr val="C9C3B8"/>
            </a:solidFill>
            <a:prstDash val="solid"/>
          </a:ln>
          <a:effectLst>
            <a:outerShdw blurRad="63500" dist="12700" dir="5400000" algn="bl" rotWithShape="0">
              <a:srgbClr val="9A948A">
                <a:alpha val="15000"/>
              </a:srgbClr>
            </a:outerShdw>
          </a:effectLst>
        </p:spPr>
      </p:sp>
      <p:pic>
        <p:nvPicPr>
          <p:cNvPr id="23" name="Image 5" descr="preencoded.png"/>
          <p:cNvPicPr>
            <a:picLocks noChangeAspect="1"/>
          </p:cNvPicPr>
          <p:nvPr/>
        </p:nvPicPr>
        <p:blipFill>
          <a:blip r:embed="rId8"/>
          <a:stretch>
            <a:fillRect/>
          </a:stretch>
        </p:blipFill>
        <p:spPr>
          <a:xfrm>
            <a:off x="1170432" y="3922776"/>
            <a:ext cx="256032" cy="256032"/>
          </a:xfrm>
          <a:prstGeom prst="rect">
            <a:avLst/>
          </a:prstGeom>
        </p:spPr>
      </p:pic>
      <p:sp>
        <p:nvSpPr>
          <p:cNvPr id="24" name="Text 16"/>
          <p:cNvSpPr/>
          <p:nvPr/>
        </p:nvSpPr>
        <p:spPr>
          <a:xfrm>
            <a:off x="1536192" y="3767328"/>
            <a:ext cx="1463040" cy="566928"/>
          </a:xfrm>
          <a:prstGeom prst="rect">
            <a:avLst/>
          </a:prstGeom>
          <a:noFill/>
          <a:ln/>
        </p:spPr>
        <p:txBody>
          <a:bodyPr wrap="square" lIns="0" tIns="0" rIns="0" bIns="0" rtlCol="0" anchor="ctr"/>
          <a:lstStyle/>
          <a:p>
            <a:pPr marL="0" indent="0">
              <a:buNone/>
            </a:pPr>
            <a:r>
              <a:rPr lang="en-US" sz="1400" b="1" dirty="0">
                <a:solidFill>
                  <a:srgbClr val="2E3A3A"/>
                </a:solidFill>
                <a:latin typeface="Calibri" pitchFamily="34" charset="0"/>
                <a:ea typeface="Calibri" pitchFamily="34" charset="-122"/>
                <a:cs typeface="Calibri" pitchFamily="34" charset="-120"/>
              </a:rPr>
              <a:t>Security</a:t>
            </a:r>
            <a:endParaRPr lang="en-US" sz="1400" dirty="0"/>
          </a:p>
        </p:txBody>
      </p:sp>
      <p:sp>
        <p:nvSpPr>
          <p:cNvPr id="25" name="Text 17"/>
          <p:cNvSpPr/>
          <p:nvPr/>
        </p:nvSpPr>
        <p:spPr>
          <a:xfrm>
            <a:off x="914400" y="4370832"/>
            <a:ext cx="2286000" cy="237744"/>
          </a:xfrm>
          <a:prstGeom prst="rect">
            <a:avLst/>
          </a:prstGeom>
          <a:noFill/>
          <a:ln/>
        </p:spPr>
        <p:txBody>
          <a:bodyPr wrap="square" lIns="0" tIns="0" rIns="0" bIns="0" rtlCol="0" anchor="ctr"/>
          <a:lstStyle/>
          <a:p>
            <a:pPr marL="0" indent="0" algn="ctr">
              <a:buNone/>
            </a:pPr>
            <a:r>
              <a:rPr lang="en-US" sz="1100" i="1" dirty="0">
                <a:solidFill>
                  <a:srgbClr val="6B7A79"/>
                </a:solidFill>
                <a:latin typeface="Calibri" pitchFamily="34" charset="0"/>
                <a:ea typeface="Calibri" pitchFamily="34" charset="-122"/>
                <a:cs typeface="Calibri" pitchFamily="34" charset="-120"/>
              </a:rPr>
              <a:t>Spring Security + JWT + RBAC</a:t>
            </a:r>
            <a:endParaRPr lang="en-US" sz="1100" dirty="0"/>
          </a:p>
        </p:txBody>
      </p:sp>
      <p:sp>
        <p:nvSpPr>
          <p:cNvPr id="26" name="Shape 18"/>
          <p:cNvSpPr/>
          <p:nvPr/>
        </p:nvSpPr>
        <p:spPr>
          <a:xfrm>
            <a:off x="3246120" y="4050792"/>
            <a:ext cx="777240" cy="0"/>
          </a:xfrm>
          <a:prstGeom prst="line">
            <a:avLst/>
          </a:prstGeom>
          <a:noFill/>
          <a:ln w="28575">
            <a:solidFill>
              <a:srgbClr val="C97B3C"/>
            </a:solidFill>
            <a:prstDash val="solid"/>
            <a:tailEnd type="triangle"/>
          </a:ln>
        </p:spPr>
      </p:sp>
      <p:sp>
        <p:nvSpPr>
          <p:cNvPr id="27" name="Shape 19"/>
          <p:cNvSpPr/>
          <p:nvPr/>
        </p:nvSpPr>
        <p:spPr>
          <a:xfrm>
            <a:off x="8991295" y="3767328"/>
            <a:ext cx="2286000" cy="566928"/>
          </a:xfrm>
          <a:prstGeom prst="roundRect">
            <a:avLst>
              <a:gd name="adj" fmla="val 11290"/>
            </a:avLst>
          </a:prstGeom>
          <a:solidFill>
            <a:srgbClr val="FFFFFF"/>
          </a:solidFill>
          <a:ln w="15875">
            <a:solidFill>
              <a:srgbClr val="C9C3B8"/>
            </a:solidFill>
            <a:prstDash val="solid"/>
          </a:ln>
          <a:effectLst>
            <a:outerShdw blurRad="63500" dist="12700" dir="5400000" algn="bl" rotWithShape="0">
              <a:srgbClr val="9A948A">
                <a:alpha val="15000"/>
              </a:srgbClr>
            </a:outerShdw>
          </a:effectLst>
        </p:spPr>
      </p:sp>
      <p:pic>
        <p:nvPicPr>
          <p:cNvPr id="28" name="Image 6" descr="preencoded.png"/>
          <p:cNvPicPr>
            <a:picLocks noChangeAspect="1"/>
          </p:cNvPicPr>
          <p:nvPr/>
        </p:nvPicPr>
        <p:blipFill>
          <a:blip r:embed="rId9"/>
          <a:stretch>
            <a:fillRect/>
          </a:stretch>
        </p:blipFill>
        <p:spPr>
          <a:xfrm>
            <a:off x="9247327" y="3922776"/>
            <a:ext cx="256032" cy="256032"/>
          </a:xfrm>
          <a:prstGeom prst="rect">
            <a:avLst/>
          </a:prstGeom>
        </p:spPr>
      </p:pic>
      <p:sp>
        <p:nvSpPr>
          <p:cNvPr id="29" name="Text 20"/>
          <p:cNvSpPr/>
          <p:nvPr/>
        </p:nvSpPr>
        <p:spPr>
          <a:xfrm>
            <a:off x="9613087" y="3767328"/>
            <a:ext cx="1463040" cy="566928"/>
          </a:xfrm>
          <a:prstGeom prst="rect">
            <a:avLst/>
          </a:prstGeom>
          <a:noFill/>
          <a:ln/>
        </p:spPr>
        <p:txBody>
          <a:bodyPr wrap="square" lIns="0" tIns="0" rIns="0" bIns="0" rtlCol="0" anchor="ctr"/>
          <a:lstStyle/>
          <a:p>
            <a:pPr marL="0" indent="0">
              <a:buNone/>
            </a:pPr>
            <a:r>
              <a:rPr lang="en-US" sz="1400" b="1" dirty="0">
                <a:solidFill>
                  <a:srgbClr val="2E3A3A"/>
                </a:solidFill>
                <a:latin typeface="Calibri" pitchFamily="34" charset="0"/>
                <a:ea typeface="Calibri" pitchFamily="34" charset="-122"/>
                <a:cs typeface="Calibri" pitchFamily="34" charset="-120"/>
              </a:rPr>
              <a:t>AI </a:t>
            </a:r>
            <a:r>
              <a:rPr lang="en-US" sz="1400" b="1" dirty="0" smtClean="0">
                <a:solidFill>
                  <a:srgbClr val="2E3A3A"/>
                </a:solidFill>
                <a:latin typeface="Calibri" pitchFamily="34" charset="0"/>
                <a:ea typeface="Calibri" pitchFamily="34" charset="-122"/>
                <a:cs typeface="Calibri" pitchFamily="34" charset="-120"/>
              </a:rPr>
              <a:t>Engine</a:t>
            </a:r>
            <a:endParaRPr lang="en-US" sz="1400" dirty="0"/>
          </a:p>
        </p:txBody>
      </p:sp>
      <p:sp>
        <p:nvSpPr>
          <p:cNvPr id="30" name="Text 21"/>
          <p:cNvSpPr/>
          <p:nvPr/>
        </p:nvSpPr>
        <p:spPr>
          <a:xfrm>
            <a:off x="8991295" y="4370832"/>
            <a:ext cx="2286000" cy="237744"/>
          </a:xfrm>
          <a:prstGeom prst="rect">
            <a:avLst/>
          </a:prstGeom>
          <a:noFill/>
          <a:ln/>
        </p:spPr>
        <p:txBody>
          <a:bodyPr wrap="square" lIns="0" tIns="0" rIns="0" bIns="0" rtlCol="0" anchor="ctr"/>
          <a:lstStyle/>
          <a:p>
            <a:pPr marL="0" indent="0" algn="ctr">
              <a:buNone/>
            </a:pPr>
            <a:r>
              <a:rPr lang="en-US" sz="1100" i="1" dirty="0">
                <a:solidFill>
                  <a:srgbClr val="6B7A79"/>
                </a:solidFill>
                <a:latin typeface="Calibri" pitchFamily="34" charset="0"/>
                <a:ea typeface="Calibri" pitchFamily="34" charset="-122"/>
                <a:cs typeface="Calibri" pitchFamily="34" charset="-120"/>
              </a:rPr>
              <a:t>LLM-based analysis &amp; insights</a:t>
            </a:r>
            <a:endParaRPr lang="en-US" sz="1100" dirty="0"/>
          </a:p>
        </p:txBody>
      </p:sp>
      <p:sp>
        <p:nvSpPr>
          <p:cNvPr id="31" name="Shape 22"/>
          <p:cNvSpPr/>
          <p:nvPr/>
        </p:nvSpPr>
        <p:spPr>
          <a:xfrm>
            <a:off x="8244688" y="4050792"/>
            <a:ext cx="777240" cy="0"/>
          </a:xfrm>
          <a:prstGeom prst="line">
            <a:avLst/>
          </a:prstGeom>
          <a:noFill/>
          <a:ln w="28575">
            <a:solidFill>
              <a:srgbClr val="C97B3C"/>
            </a:solidFill>
            <a:prstDash val="solid"/>
            <a:tailEnd type="triangle"/>
          </a:ln>
        </p:spPr>
      </p:sp>
      <p:sp>
        <p:nvSpPr>
          <p:cNvPr id="32" name="Text 23"/>
          <p:cNvSpPr/>
          <p:nvPr/>
        </p:nvSpPr>
        <p:spPr>
          <a:xfrm>
            <a:off x="548640" y="5285232"/>
            <a:ext cx="11094415" cy="274320"/>
          </a:xfrm>
          <a:prstGeom prst="rect">
            <a:avLst/>
          </a:prstGeom>
          <a:noFill/>
          <a:ln/>
        </p:spPr>
        <p:txBody>
          <a:bodyPr wrap="square" lIns="0" tIns="0" rIns="0" bIns="0" rtlCol="0" anchor="ctr"/>
          <a:lstStyle/>
          <a:p>
            <a:pPr marL="0" indent="0" algn="ctr">
              <a:buNone/>
            </a:pPr>
            <a:r>
              <a:rPr lang="en-US" sz="1300" i="1" dirty="0">
                <a:solidFill>
                  <a:srgbClr val="6B7A79"/>
                </a:solidFill>
                <a:latin typeface="Calibri" pitchFamily="34" charset="0"/>
                <a:ea typeface="Calibri" pitchFamily="34" charset="-122"/>
                <a:cs typeface="Calibri" pitchFamily="34" charset="-120"/>
              </a:rPr>
              <a:t>A layered stack — from user interface down to data, with AI woven through the middle.</a:t>
            </a:r>
            <a:endParaRPr lang="en-US" sz="1300" dirty="0"/>
          </a:p>
        </p:txBody>
      </p:sp>
      <p:sp>
        <p:nvSpPr>
          <p:cNvPr id="33" name="Shape 24"/>
          <p:cNvSpPr/>
          <p:nvPr/>
        </p:nvSpPr>
        <p:spPr>
          <a:xfrm>
            <a:off x="742036" y="5632704"/>
            <a:ext cx="1965960" cy="402336"/>
          </a:xfrm>
          <a:prstGeom prst="roundRect">
            <a:avLst>
              <a:gd name="adj" fmla="val 22727"/>
            </a:avLst>
          </a:prstGeom>
          <a:solidFill>
            <a:srgbClr val="E3EDEB"/>
          </a:solidFill>
          <a:ln w="12700">
            <a:solidFill>
              <a:srgbClr val="333333"/>
            </a:solidFill>
            <a:prstDash val="solid"/>
          </a:ln>
        </p:spPr>
      </p:sp>
      <p:sp>
        <p:nvSpPr>
          <p:cNvPr id="34" name="Text 25"/>
          <p:cNvSpPr/>
          <p:nvPr/>
        </p:nvSpPr>
        <p:spPr>
          <a:xfrm>
            <a:off x="742036" y="5632704"/>
            <a:ext cx="1965960" cy="402336"/>
          </a:xfrm>
          <a:prstGeom prst="rect">
            <a:avLst/>
          </a:prstGeom>
          <a:noFill/>
          <a:ln/>
        </p:spPr>
        <p:txBody>
          <a:bodyPr wrap="square" lIns="0" tIns="0" rIns="0" bIns="0" rtlCol="0" anchor="ctr"/>
          <a:lstStyle/>
          <a:p>
            <a:pPr marL="0" indent="0" algn="ctr">
              <a:buNone/>
            </a:pPr>
            <a:r>
              <a:rPr lang="en-US" sz="1200" b="1" dirty="0">
                <a:solidFill>
                  <a:srgbClr val="154C49"/>
                </a:solidFill>
                <a:latin typeface="Calibri" pitchFamily="34" charset="0"/>
                <a:ea typeface="Calibri" pitchFamily="34" charset="-122"/>
                <a:cs typeface="Calibri" pitchFamily="34" charset="-120"/>
              </a:rPr>
              <a:t>API Layer</a:t>
            </a:r>
            <a:endParaRPr lang="en-US" sz="1200" dirty="0"/>
          </a:p>
        </p:txBody>
      </p:sp>
      <p:sp>
        <p:nvSpPr>
          <p:cNvPr id="35" name="Shape 26"/>
          <p:cNvSpPr/>
          <p:nvPr/>
        </p:nvSpPr>
        <p:spPr>
          <a:xfrm>
            <a:off x="2927452" y="5632704"/>
            <a:ext cx="1965960" cy="402336"/>
          </a:xfrm>
          <a:prstGeom prst="roundRect">
            <a:avLst>
              <a:gd name="adj" fmla="val 22727"/>
            </a:avLst>
          </a:prstGeom>
          <a:solidFill>
            <a:srgbClr val="E3EDEB"/>
          </a:solidFill>
          <a:ln w="12700">
            <a:solidFill>
              <a:srgbClr val="333333"/>
            </a:solidFill>
            <a:prstDash val="solid"/>
          </a:ln>
        </p:spPr>
      </p:sp>
      <p:sp>
        <p:nvSpPr>
          <p:cNvPr id="36" name="Text 27"/>
          <p:cNvSpPr/>
          <p:nvPr/>
        </p:nvSpPr>
        <p:spPr>
          <a:xfrm>
            <a:off x="2927452" y="5632704"/>
            <a:ext cx="1965960" cy="402336"/>
          </a:xfrm>
          <a:prstGeom prst="rect">
            <a:avLst/>
          </a:prstGeom>
          <a:noFill/>
          <a:ln/>
        </p:spPr>
        <p:txBody>
          <a:bodyPr wrap="square" lIns="0" tIns="0" rIns="0" bIns="0" rtlCol="0" anchor="ctr"/>
          <a:lstStyle/>
          <a:p>
            <a:pPr marL="0" indent="0" algn="ctr">
              <a:buNone/>
            </a:pPr>
            <a:r>
              <a:rPr lang="en-US" sz="1200" b="1" dirty="0">
                <a:solidFill>
                  <a:srgbClr val="154C49"/>
                </a:solidFill>
                <a:latin typeface="Calibri" pitchFamily="34" charset="0"/>
                <a:ea typeface="Calibri" pitchFamily="34" charset="-122"/>
                <a:cs typeface="Calibri" pitchFamily="34" charset="-120"/>
              </a:rPr>
              <a:t>Service Layer</a:t>
            </a:r>
            <a:endParaRPr lang="en-US" sz="1200" dirty="0"/>
          </a:p>
        </p:txBody>
      </p:sp>
      <p:sp>
        <p:nvSpPr>
          <p:cNvPr id="37" name="Shape 28"/>
          <p:cNvSpPr/>
          <p:nvPr/>
        </p:nvSpPr>
        <p:spPr>
          <a:xfrm>
            <a:off x="5112868" y="5632704"/>
            <a:ext cx="1965960" cy="402336"/>
          </a:xfrm>
          <a:prstGeom prst="roundRect">
            <a:avLst>
              <a:gd name="adj" fmla="val 22727"/>
            </a:avLst>
          </a:prstGeom>
          <a:solidFill>
            <a:srgbClr val="E3EDEB"/>
          </a:solidFill>
          <a:ln w="12700">
            <a:solidFill>
              <a:srgbClr val="333333"/>
            </a:solidFill>
            <a:prstDash val="solid"/>
          </a:ln>
        </p:spPr>
      </p:sp>
      <p:sp>
        <p:nvSpPr>
          <p:cNvPr id="38" name="Text 29"/>
          <p:cNvSpPr/>
          <p:nvPr/>
        </p:nvSpPr>
        <p:spPr>
          <a:xfrm>
            <a:off x="5112868" y="5632704"/>
            <a:ext cx="1965960" cy="402336"/>
          </a:xfrm>
          <a:prstGeom prst="rect">
            <a:avLst/>
          </a:prstGeom>
          <a:noFill/>
          <a:ln/>
        </p:spPr>
        <p:txBody>
          <a:bodyPr wrap="square" lIns="0" tIns="0" rIns="0" bIns="0" rtlCol="0" anchor="ctr"/>
          <a:lstStyle/>
          <a:p>
            <a:pPr marL="0" indent="0" algn="ctr">
              <a:buNone/>
            </a:pPr>
            <a:r>
              <a:rPr lang="en-US" sz="1200" b="1" dirty="0">
                <a:solidFill>
                  <a:srgbClr val="154C49"/>
                </a:solidFill>
                <a:latin typeface="Calibri" pitchFamily="34" charset="0"/>
                <a:ea typeface="Calibri" pitchFamily="34" charset="-122"/>
                <a:cs typeface="Calibri" pitchFamily="34" charset="-120"/>
              </a:rPr>
              <a:t>Data Layer</a:t>
            </a:r>
            <a:endParaRPr lang="en-US" sz="1200" dirty="0"/>
          </a:p>
        </p:txBody>
      </p:sp>
      <p:sp>
        <p:nvSpPr>
          <p:cNvPr id="39" name="Shape 30"/>
          <p:cNvSpPr/>
          <p:nvPr/>
        </p:nvSpPr>
        <p:spPr>
          <a:xfrm>
            <a:off x="7298284" y="5632704"/>
            <a:ext cx="1965960" cy="402336"/>
          </a:xfrm>
          <a:prstGeom prst="roundRect">
            <a:avLst>
              <a:gd name="adj" fmla="val 22727"/>
            </a:avLst>
          </a:prstGeom>
          <a:solidFill>
            <a:srgbClr val="E3EDEB"/>
          </a:solidFill>
          <a:ln w="12700">
            <a:solidFill>
              <a:srgbClr val="333333"/>
            </a:solidFill>
            <a:prstDash val="solid"/>
          </a:ln>
        </p:spPr>
      </p:sp>
      <p:sp>
        <p:nvSpPr>
          <p:cNvPr id="40" name="Text 31"/>
          <p:cNvSpPr/>
          <p:nvPr/>
        </p:nvSpPr>
        <p:spPr>
          <a:xfrm>
            <a:off x="7298284" y="5632704"/>
            <a:ext cx="1965960" cy="402336"/>
          </a:xfrm>
          <a:prstGeom prst="rect">
            <a:avLst/>
          </a:prstGeom>
          <a:noFill/>
          <a:ln/>
        </p:spPr>
        <p:txBody>
          <a:bodyPr wrap="square" lIns="0" tIns="0" rIns="0" bIns="0" rtlCol="0" anchor="ctr"/>
          <a:lstStyle/>
          <a:p>
            <a:pPr marL="0" indent="0" algn="ctr">
              <a:buNone/>
            </a:pPr>
            <a:r>
              <a:rPr lang="en-US" sz="1200" b="1" dirty="0" smtClean="0">
                <a:solidFill>
                  <a:srgbClr val="154C49"/>
                </a:solidFill>
                <a:latin typeface="Calibri" pitchFamily="34" charset="0"/>
                <a:ea typeface="Calibri" pitchFamily="34" charset="-122"/>
                <a:cs typeface="Calibri" pitchFamily="34" charset="-120"/>
              </a:rPr>
              <a:t>AI </a:t>
            </a:r>
            <a:r>
              <a:rPr lang="en-US" sz="1200" b="1" dirty="0">
                <a:solidFill>
                  <a:srgbClr val="154C49"/>
                </a:solidFill>
                <a:latin typeface="Calibri" pitchFamily="34" charset="0"/>
                <a:ea typeface="Calibri" pitchFamily="34" charset="-122"/>
                <a:cs typeface="Calibri" pitchFamily="34" charset="-120"/>
              </a:rPr>
              <a:t>Engine</a:t>
            </a:r>
            <a:endParaRPr lang="en-US" sz="1200" dirty="0"/>
          </a:p>
        </p:txBody>
      </p:sp>
      <p:sp>
        <p:nvSpPr>
          <p:cNvPr id="41" name="Shape 32"/>
          <p:cNvSpPr/>
          <p:nvPr/>
        </p:nvSpPr>
        <p:spPr>
          <a:xfrm>
            <a:off x="9483700" y="5632704"/>
            <a:ext cx="1965960" cy="402336"/>
          </a:xfrm>
          <a:prstGeom prst="roundRect">
            <a:avLst>
              <a:gd name="adj" fmla="val 22727"/>
            </a:avLst>
          </a:prstGeom>
          <a:solidFill>
            <a:srgbClr val="E3EDEB"/>
          </a:solidFill>
          <a:ln w="12700">
            <a:solidFill>
              <a:srgbClr val="333333"/>
            </a:solidFill>
            <a:prstDash val="solid"/>
          </a:ln>
        </p:spPr>
      </p:sp>
      <p:sp>
        <p:nvSpPr>
          <p:cNvPr id="42" name="Text 33"/>
          <p:cNvSpPr/>
          <p:nvPr/>
        </p:nvSpPr>
        <p:spPr>
          <a:xfrm>
            <a:off x="9483700" y="5632704"/>
            <a:ext cx="1965960" cy="402336"/>
          </a:xfrm>
          <a:prstGeom prst="rect">
            <a:avLst/>
          </a:prstGeom>
          <a:noFill/>
          <a:ln/>
        </p:spPr>
        <p:txBody>
          <a:bodyPr wrap="square" lIns="0" tIns="0" rIns="0" bIns="0" rtlCol="0" anchor="ctr"/>
          <a:lstStyle/>
          <a:p>
            <a:pPr marL="0" indent="0" algn="ctr">
              <a:buNone/>
            </a:pPr>
            <a:r>
              <a:rPr lang="en-US" sz="1200" b="1" dirty="0">
                <a:solidFill>
                  <a:srgbClr val="154C49"/>
                </a:solidFill>
                <a:latin typeface="Calibri" pitchFamily="34" charset="0"/>
                <a:ea typeface="Calibri" pitchFamily="34" charset="-122"/>
                <a:cs typeface="Calibri" pitchFamily="34" charset="-120"/>
              </a:rPr>
              <a:t>Frontend</a:t>
            </a:r>
            <a:endParaRPr lang="en-US" sz="1200" dirty="0"/>
          </a:p>
        </p:txBody>
      </p:sp>
      <p:sp>
        <p:nvSpPr>
          <p:cNvPr id="43" name="Text 34"/>
          <p:cNvSpPr/>
          <p:nvPr/>
        </p:nvSpPr>
        <p:spPr>
          <a:xfrm>
            <a:off x="548640" y="969264"/>
            <a:ext cx="11094415" cy="274320"/>
          </a:xfrm>
          <a:prstGeom prst="rect">
            <a:avLst/>
          </a:prstGeom>
          <a:noFill/>
          <a:ln/>
        </p:spPr>
        <p:txBody>
          <a:bodyPr wrap="square" lIns="0" tIns="0" rIns="0" bIns="0" rtlCol="0" anchor="ctr"/>
          <a:lstStyle/>
          <a:p>
            <a:pPr marL="0" indent="0">
              <a:buNone/>
            </a:pPr>
            <a:r>
              <a:rPr lang="en-US" sz="1400" i="1" dirty="0">
                <a:solidFill>
                  <a:srgbClr val="6B7A79"/>
                </a:solidFill>
                <a:latin typeface="Calibri" pitchFamily="34" charset="0"/>
                <a:ea typeface="Calibri" pitchFamily="34" charset="-122"/>
                <a:cs typeface="Calibri" pitchFamily="34" charset="-120"/>
              </a:rPr>
              <a:t>Modular, microservices-inspired — five core components</a:t>
            </a:r>
            <a:endParaRPr lang="en-US" sz="1400" dirty="0"/>
          </a:p>
        </p:txBody>
      </p:sp>
      <p:sp>
        <p:nvSpPr>
          <p:cNvPr id="44" name="Text 35"/>
          <p:cNvSpPr/>
          <p:nvPr/>
        </p:nvSpPr>
        <p:spPr>
          <a:xfrm>
            <a:off x="548640" y="6272784"/>
            <a:ext cx="7315200" cy="274320"/>
          </a:xfrm>
          <a:prstGeom prst="rect">
            <a:avLst/>
          </a:prstGeom>
          <a:noFill/>
          <a:ln/>
        </p:spPr>
        <p:txBody>
          <a:bodyPr wrap="square" lIns="0" tIns="0" rIns="0" bIns="0" rtlCol="0" anchor="ctr"/>
          <a:lstStyle/>
          <a:p>
            <a:pPr marL="0" indent="0" algn="l">
              <a:buNone/>
            </a:pPr>
            <a:r>
              <a:rPr lang="en-US" sz="1000" dirty="0">
                <a:solidFill>
                  <a:srgbClr val="6B7A79"/>
                </a:solidFill>
                <a:latin typeface="Calibri" pitchFamily="34" charset="0"/>
                <a:ea typeface="Calibri" pitchFamily="34" charset="-122"/>
                <a:cs typeface="Calibri" pitchFamily="34" charset="-120"/>
              </a:rPr>
              <a:t>NeuroForge Enterprise SDLC Platform</a:t>
            </a:r>
            <a:endParaRPr lang="en-US" sz="1000" dirty="0"/>
          </a:p>
        </p:txBody>
      </p:sp>
      <p:sp>
        <p:nvSpPr>
          <p:cNvPr id="45" name="Text 36"/>
          <p:cNvSpPr/>
          <p:nvPr/>
        </p:nvSpPr>
        <p:spPr>
          <a:xfrm>
            <a:off x="10545774" y="6272784"/>
            <a:ext cx="1218333" cy="274320"/>
          </a:xfrm>
          <a:prstGeom prst="rect">
            <a:avLst/>
          </a:prstGeom>
          <a:noFill/>
          <a:ln/>
        </p:spPr>
        <p:txBody>
          <a:bodyPr wrap="square" lIns="0" tIns="0" rIns="0" bIns="0" rtlCol="0" anchor="ctr"/>
          <a:lstStyle/>
          <a:p>
            <a:pPr marL="0" indent="0" algn="r">
              <a:buNone/>
            </a:pPr>
            <a:r>
              <a:rPr lang="en-US" sz="1000" dirty="0" smtClean="0">
                <a:solidFill>
                  <a:srgbClr val="6B7A79"/>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marL="0" indent="0" algn="l">
              <a:buNone/>
            </a:pPr>
            <a:r>
              <a:rPr lang="en-US" sz="3200" b="1" dirty="0">
                <a:solidFill>
                  <a:srgbClr val="1F6F6B"/>
                </a:solidFill>
                <a:latin typeface="Cambria" pitchFamily="34" charset="0"/>
                <a:ea typeface="Cambria" pitchFamily="34" charset="-122"/>
                <a:cs typeface="Cambria" pitchFamily="34" charset="-120"/>
              </a:rPr>
              <a:t>Technology Stack</a:t>
            </a:r>
            <a:endParaRPr lang="en-US" sz="3200" dirty="0"/>
          </a:p>
        </p:txBody>
      </p:sp>
      <p:sp>
        <p:nvSpPr>
          <p:cNvPr id="4" name="Shape 2"/>
          <p:cNvSpPr/>
          <p:nvPr/>
        </p:nvSpPr>
        <p:spPr>
          <a:xfrm>
            <a:off x="548640" y="1536192"/>
            <a:ext cx="5318608" cy="914400"/>
          </a:xfrm>
          <a:prstGeom prst="roundRect">
            <a:avLst>
              <a:gd name="adj" fmla="val 8000"/>
            </a:avLst>
          </a:prstGeom>
          <a:solidFill>
            <a:srgbClr val="FFFFFF"/>
          </a:solidFill>
          <a:ln w="12700">
            <a:solidFill>
              <a:srgbClr val="DFDBD2"/>
            </a:solidFill>
            <a:prstDash val="solid"/>
          </a:ln>
          <a:effectLst>
            <a:outerShdw blurRad="76200" dist="12700" dir="5400000" algn="bl" rotWithShape="0">
              <a:srgbClr val="9A948A">
                <a:alpha val="18000"/>
              </a:srgbClr>
            </a:outerShdw>
          </a:effectLst>
        </p:spPr>
      </p:sp>
      <p:sp>
        <p:nvSpPr>
          <p:cNvPr id="5" name="Shape 3"/>
          <p:cNvSpPr/>
          <p:nvPr/>
        </p:nvSpPr>
        <p:spPr>
          <a:xfrm>
            <a:off x="804672" y="1737360"/>
            <a:ext cx="512064" cy="512064"/>
          </a:xfrm>
          <a:prstGeom prst="ellipse">
            <a:avLst/>
          </a:prstGeom>
          <a:solidFill>
            <a:srgbClr val="E3EDEB"/>
          </a:solidFill>
          <a:ln w="12700">
            <a:solidFill>
              <a:srgbClr val="E3EDEB"/>
            </a:solidFill>
            <a:prstDash val="solid"/>
          </a:ln>
        </p:spPr>
      </p:sp>
      <p:pic>
        <p:nvPicPr>
          <p:cNvPr id="6" name="Image 0" descr="preencoded.png"/>
          <p:cNvPicPr>
            <a:picLocks noChangeAspect="1"/>
          </p:cNvPicPr>
          <p:nvPr/>
        </p:nvPicPr>
        <p:blipFill>
          <a:blip r:embed="rId3"/>
          <a:stretch>
            <a:fillRect/>
          </a:stretch>
        </p:blipFill>
        <p:spPr>
          <a:xfrm>
            <a:off x="937809" y="1870497"/>
            <a:ext cx="245791" cy="245791"/>
          </a:xfrm>
          <a:prstGeom prst="rect">
            <a:avLst/>
          </a:prstGeom>
        </p:spPr>
      </p:pic>
      <p:sp>
        <p:nvSpPr>
          <p:cNvPr id="7" name="Text 4"/>
          <p:cNvSpPr/>
          <p:nvPr/>
        </p:nvSpPr>
        <p:spPr>
          <a:xfrm>
            <a:off x="1444752" y="1682496"/>
            <a:ext cx="4221328" cy="310896"/>
          </a:xfrm>
          <a:prstGeom prst="rect">
            <a:avLst/>
          </a:prstGeom>
          <a:noFill/>
          <a:ln/>
        </p:spPr>
        <p:txBody>
          <a:bodyPr wrap="square" lIns="0" tIns="0" rIns="0" bIns="0" rtlCol="0" anchor="ctr"/>
          <a:lstStyle/>
          <a:p>
            <a:pPr marL="0" indent="0">
              <a:buNone/>
            </a:pPr>
            <a:r>
              <a:rPr lang="en-US" sz="1550" b="1" dirty="0">
                <a:solidFill>
                  <a:srgbClr val="1F6F6B"/>
                </a:solidFill>
                <a:latin typeface="Calibri" pitchFamily="34" charset="0"/>
                <a:ea typeface="Calibri" pitchFamily="34" charset="-122"/>
                <a:cs typeface="Calibri" pitchFamily="34" charset="-120"/>
              </a:rPr>
              <a:t>Frontend</a:t>
            </a:r>
            <a:endParaRPr lang="en-US" sz="1550" dirty="0"/>
          </a:p>
        </p:txBody>
      </p:sp>
      <p:sp>
        <p:nvSpPr>
          <p:cNvPr id="8" name="Text 5"/>
          <p:cNvSpPr/>
          <p:nvPr/>
        </p:nvSpPr>
        <p:spPr>
          <a:xfrm>
            <a:off x="1444752" y="1993392"/>
            <a:ext cx="4221328" cy="310896"/>
          </a:xfrm>
          <a:prstGeom prst="rect">
            <a:avLst/>
          </a:prstGeom>
          <a:noFill/>
          <a:ln/>
        </p:spPr>
        <p:txBody>
          <a:bodyPr wrap="square" lIns="0" tIns="0" rIns="0" bIns="0" rtlCol="0" anchor="ctr"/>
          <a:lstStyle/>
          <a:p>
            <a:pPr marL="0" indent="0">
              <a:buNone/>
            </a:pPr>
            <a:r>
              <a:rPr lang="en-US" sz="1400" dirty="0">
                <a:solidFill>
                  <a:srgbClr val="2E3A3A"/>
                </a:solidFill>
                <a:latin typeface="Calibri" pitchFamily="34" charset="0"/>
                <a:ea typeface="Calibri" pitchFamily="34" charset="-122"/>
                <a:cs typeface="Calibri" pitchFamily="34" charset="-120"/>
              </a:rPr>
              <a:t>React.js  </a:t>
            </a:r>
            <a:endParaRPr lang="en-US" sz="1400" dirty="0"/>
          </a:p>
        </p:txBody>
      </p:sp>
      <p:sp>
        <p:nvSpPr>
          <p:cNvPr id="9" name="Shape 6"/>
          <p:cNvSpPr/>
          <p:nvPr/>
        </p:nvSpPr>
        <p:spPr>
          <a:xfrm>
            <a:off x="6324448" y="1536192"/>
            <a:ext cx="5318608" cy="914400"/>
          </a:xfrm>
          <a:prstGeom prst="roundRect">
            <a:avLst>
              <a:gd name="adj" fmla="val 8000"/>
            </a:avLst>
          </a:prstGeom>
          <a:solidFill>
            <a:srgbClr val="FFFFFF"/>
          </a:solidFill>
          <a:ln w="12700">
            <a:solidFill>
              <a:srgbClr val="DFDBD2"/>
            </a:solidFill>
            <a:prstDash val="solid"/>
          </a:ln>
          <a:effectLst>
            <a:outerShdw blurRad="76200" dist="12700" dir="5400000" algn="bl" rotWithShape="0">
              <a:srgbClr val="9A948A">
                <a:alpha val="18000"/>
              </a:srgbClr>
            </a:outerShdw>
          </a:effectLst>
        </p:spPr>
      </p:sp>
      <p:sp>
        <p:nvSpPr>
          <p:cNvPr id="10" name="Shape 7"/>
          <p:cNvSpPr/>
          <p:nvPr/>
        </p:nvSpPr>
        <p:spPr>
          <a:xfrm>
            <a:off x="6580480" y="1737360"/>
            <a:ext cx="512064" cy="512064"/>
          </a:xfrm>
          <a:prstGeom prst="ellipse">
            <a:avLst/>
          </a:prstGeom>
          <a:solidFill>
            <a:srgbClr val="E3EDEB"/>
          </a:solidFill>
          <a:ln w="12700">
            <a:solidFill>
              <a:srgbClr val="E3EDEB"/>
            </a:solidFill>
            <a:prstDash val="solid"/>
          </a:ln>
        </p:spPr>
      </p:sp>
      <p:pic>
        <p:nvPicPr>
          <p:cNvPr id="11" name="Image 1" descr="preencoded.png"/>
          <p:cNvPicPr>
            <a:picLocks noChangeAspect="1"/>
          </p:cNvPicPr>
          <p:nvPr/>
        </p:nvPicPr>
        <p:blipFill>
          <a:blip r:embed="rId4"/>
          <a:stretch>
            <a:fillRect/>
          </a:stretch>
        </p:blipFill>
        <p:spPr>
          <a:xfrm>
            <a:off x="6713616" y="1870497"/>
            <a:ext cx="245791" cy="245791"/>
          </a:xfrm>
          <a:prstGeom prst="rect">
            <a:avLst/>
          </a:prstGeom>
        </p:spPr>
      </p:pic>
      <p:sp>
        <p:nvSpPr>
          <p:cNvPr id="12" name="Text 8"/>
          <p:cNvSpPr/>
          <p:nvPr/>
        </p:nvSpPr>
        <p:spPr>
          <a:xfrm>
            <a:off x="7220560" y="1682496"/>
            <a:ext cx="4221328" cy="310896"/>
          </a:xfrm>
          <a:prstGeom prst="rect">
            <a:avLst/>
          </a:prstGeom>
          <a:noFill/>
          <a:ln/>
        </p:spPr>
        <p:txBody>
          <a:bodyPr wrap="square" lIns="0" tIns="0" rIns="0" bIns="0" rtlCol="0" anchor="ctr"/>
          <a:lstStyle/>
          <a:p>
            <a:pPr marL="0" indent="0">
              <a:buNone/>
            </a:pPr>
            <a:r>
              <a:rPr lang="en-US" sz="1550" b="1" dirty="0">
                <a:solidFill>
                  <a:srgbClr val="1F6F6B"/>
                </a:solidFill>
                <a:latin typeface="Calibri" pitchFamily="34" charset="0"/>
                <a:ea typeface="Calibri" pitchFamily="34" charset="-122"/>
                <a:cs typeface="Calibri" pitchFamily="34" charset="-120"/>
              </a:rPr>
              <a:t>Backend</a:t>
            </a:r>
            <a:endParaRPr lang="en-US" sz="1550" dirty="0"/>
          </a:p>
        </p:txBody>
      </p:sp>
      <p:sp>
        <p:nvSpPr>
          <p:cNvPr id="13" name="Text 9"/>
          <p:cNvSpPr/>
          <p:nvPr/>
        </p:nvSpPr>
        <p:spPr>
          <a:xfrm>
            <a:off x="7220560" y="1993392"/>
            <a:ext cx="4221328" cy="310896"/>
          </a:xfrm>
          <a:prstGeom prst="rect">
            <a:avLst/>
          </a:prstGeom>
          <a:noFill/>
          <a:ln/>
        </p:spPr>
        <p:txBody>
          <a:bodyPr wrap="square" lIns="0" tIns="0" rIns="0" bIns="0" rtlCol="0" anchor="ctr"/>
          <a:lstStyle/>
          <a:p>
            <a:pPr marL="0" indent="0">
              <a:buNone/>
            </a:pPr>
            <a:r>
              <a:rPr lang="en-US" sz="1400" dirty="0">
                <a:solidFill>
                  <a:srgbClr val="2E3A3A"/>
                </a:solidFill>
                <a:latin typeface="Calibri" pitchFamily="34" charset="0"/>
                <a:ea typeface="Calibri" pitchFamily="34" charset="-122"/>
                <a:cs typeface="Calibri" pitchFamily="34" charset="-120"/>
              </a:rPr>
              <a:t>Spring </a:t>
            </a:r>
            <a:r>
              <a:rPr lang="en-US" sz="1400" dirty="0" smtClean="0">
                <a:solidFill>
                  <a:srgbClr val="2E3A3A"/>
                </a:solidFill>
                <a:latin typeface="Calibri" pitchFamily="34" charset="0"/>
                <a:ea typeface="Calibri" pitchFamily="34" charset="-122"/>
                <a:cs typeface="Calibri" pitchFamily="34" charset="-120"/>
              </a:rPr>
              <a:t>Boot</a:t>
            </a:r>
            <a:endParaRPr lang="en-US" sz="1400" dirty="0"/>
          </a:p>
        </p:txBody>
      </p:sp>
      <p:sp>
        <p:nvSpPr>
          <p:cNvPr id="14" name="Shape 10"/>
          <p:cNvSpPr/>
          <p:nvPr/>
        </p:nvSpPr>
        <p:spPr>
          <a:xfrm>
            <a:off x="548640" y="2633472"/>
            <a:ext cx="5318608" cy="914400"/>
          </a:xfrm>
          <a:prstGeom prst="roundRect">
            <a:avLst>
              <a:gd name="adj" fmla="val 8000"/>
            </a:avLst>
          </a:prstGeom>
          <a:solidFill>
            <a:srgbClr val="FFFFFF"/>
          </a:solidFill>
          <a:ln w="12700">
            <a:solidFill>
              <a:srgbClr val="DFDBD2"/>
            </a:solidFill>
            <a:prstDash val="solid"/>
          </a:ln>
          <a:effectLst>
            <a:outerShdw blurRad="76200" dist="12700" dir="5400000" algn="bl" rotWithShape="0">
              <a:srgbClr val="9A948A">
                <a:alpha val="18000"/>
              </a:srgbClr>
            </a:outerShdw>
          </a:effectLst>
        </p:spPr>
      </p:sp>
      <p:sp>
        <p:nvSpPr>
          <p:cNvPr id="15" name="Shape 11"/>
          <p:cNvSpPr/>
          <p:nvPr/>
        </p:nvSpPr>
        <p:spPr>
          <a:xfrm>
            <a:off x="804672" y="2834640"/>
            <a:ext cx="512064" cy="512064"/>
          </a:xfrm>
          <a:prstGeom prst="ellipse">
            <a:avLst/>
          </a:prstGeom>
          <a:solidFill>
            <a:srgbClr val="E3EDEB"/>
          </a:solidFill>
          <a:ln w="12700">
            <a:solidFill>
              <a:srgbClr val="E3EDEB"/>
            </a:solidFill>
            <a:prstDash val="solid"/>
          </a:ln>
        </p:spPr>
      </p:sp>
      <p:pic>
        <p:nvPicPr>
          <p:cNvPr id="16" name="Image 2" descr="preencoded.png"/>
          <p:cNvPicPr>
            <a:picLocks noChangeAspect="1"/>
          </p:cNvPicPr>
          <p:nvPr/>
        </p:nvPicPr>
        <p:blipFill>
          <a:blip r:embed="rId5"/>
          <a:stretch>
            <a:fillRect/>
          </a:stretch>
        </p:blipFill>
        <p:spPr>
          <a:xfrm>
            <a:off x="937809" y="2967777"/>
            <a:ext cx="245791" cy="245791"/>
          </a:xfrm>
          <a:prstGeom prst="rect">
            <a:avLst/>
          </a:prstGeom>
        </p:spPr>
      </p:pic>
      <p:sp>
        <p:nvSpPr>
          <p:cNvPr id="17" name="Text 12"/>
          <p:cNvSpPr/>
          <p:nvPr/>
        </p:nvSpPr>
        <p:spPr>
          <a:xfrm>
            <a:off x="1444752" y="2779776"/>
            <a:ext cx="4221328" cy="310896"/>
          </a:xfrm>
          <a:prstGeom prst="rect">
            <a:avLst/>
          </a:prstGeom>
          <a:noFill/>
          <a:ln/>
        </p:spPr>
        <p:txBody>
          <a:bodyPr wrap="square" lIns="0" tIns="0" rIns="0" bIns="0" rtlCol="0" anchor="ctr"/>
          <a:lstStyle/>
          <a:p>
            <a:pPr marL="0" indent="0">
              <a:buNone/>
            </a:pPr>
            <a:r>
              <a:rPr lang="en-US" sz="1550" b="1" dirty="0">
                <a:solidFill>
                  <a:srgbClr val="1F6F6B"/>
                </a:solidFill>
                <a:latin typeface="Calibri" pitchFamily="34" charset="0"/>
                <a:ea typeface="Calibri" pitchFamily="34" charset="-122"/>
                <a:cs typeface="Calibri" pitchFamily="34" charset="-120"/>
              </a:rPr>
              <a:t>Database</a:t>
            </a:r>
            <a:endParaRPr lang="en-US" sz="1550" dirty="0"/>
          </a:p>
        </p:txBody>
      </p:sp>
      <p:sp>
        <p:nvSpPr>
          <p:cNvPr id="18" name="Text 13"/>
          <p:cNvSpPr/>
          <p:nvPr/>
        </p:nvSpPr>
        <p:spPr>
          <a:xfrm>
            <a:off x="1444752" y="3090672"/>
            <a:ext cx="4221328" cy="310896"/>
          </a:xfrm>
          <a:prstGeom prst="rect">
            <a:avLst/>
          </a:prstGeom>
          <a:noFill/>
          <a:ln/>
        </p:spPr>
        <p:txBody>
          <a:bodyPr wrap="square" lIns="0" tIns="0" rIns="0" bIns="0" rtlCol="0" anchor="ctr"/>
          <a:lstStyle/>
          <a:p>
            <a:pPr marL="0" indent="0">
              <a:buNone/>
            </a:pPr>
            <a:r>
              <a:rPr lang="en-US" sz="1400" dirty="0" smtClean="0">
                <a:solidFill>
                  <a:srgbClr val="2E3A3A"/>
                </a:solidFill>
                <a:latin typeface="Calibri" pitchFamily="34" charset="0"/>
                <a:ea typeface="Calibri" pitchFamily="34" charset="-122"/>
                <a:cs typeface="Calibri" pitchFamily="34" charset="-120"/>
              </a:rPr>
              <a:t>MSSQL (SSMS)</a:t>
            </a:r>
            <a:endParaRPr lang="en-US" sz="1400" dirty="0"/>
          </a:p>
        </p:txBody>
      </p:sp>
      <p:sp>
        <p:nvSpPr>
          <p:cNvPr id="24" name="Shape 18"/>
          <p:cNvSpPr/>
          <p:nvPr/>
        </p:nvSpPr>
        <p:spPr>
          <a:xfrm>
            <a:off x="6324448" y="2697480"/>
            <a:ext cx="5318608" cy="914400"/>
          </a:xfrm>
          <a:prstGeom prst="roundRect">
            <a:avLst>
              <a:gd name="adj" fmla="val 8000"/>
            </a:avLst>
          </a:prstGeom>
          <a:solidFill>
            <a:srgbClr val="FFFFFF"/>
          </a:solidFill>
          <a:ln w="12700">
            <a:solidFill>
              <a:srgbClr val="DFDBD2"/>
            </a:solidFill>
            <a:prstDash val="solid"/>
          </a:ln>
          <a:effectLst>
            <a:outerShdw blurRad="76200" dist="12700" dir="5400000" algn="bl" rotWithShape="0">
              <a:srgbClr val="9A948A">
                <a:alpha val="18000"/>
              </a:srgbClr>
            </a:outerShdw>
          </a:effectLst>
        </p:spPr>
      </p:sp>
      <p:sp>
        <p:nvSpPr>
          <p:cNvPr id="25" name="Shape 19"/>
          <p:cNvSpPr/>
          <p:nvPr/>
        </p:nvSpPr>
        <p:spPr>
          <a:xfrm>
            <a:off x="6603186" y="2826903"/>
            <a:ext cx="512064" cy="512064"/>
          </a:xfrm>
          <a:prstGeom prst="ellipse">
            <a:avLst/>
          </a:prstGeom>
          <a:solidFill>
            <a:srgbClr val="E3EDEB"/>
          </a:solidFill>
          <a:ln w="12700">
            <a:solidFill>
              <a:srgbClr val="E3EDEB"/>
            </a:solidFill>
            <a:prstDash val="solid"/>
          </a:ln>
        </p:spPr>
      </p:sp>
      <p:pic>
        <p:nvPicPr>
          <p:cNvPr id="26" name="Image 4" descr="preencoded.png"/>
          <p:cNvPicPr>
            <a:picLocks noChangeAspect="1"/>
          </p:cNvPicPr>
          <p:nvPr/>
        </p:nvPicPr>
        <p:blipFill>
          <a:blip r:embed="rId6"/>
          <a:stretch>
            <a:fillRect/>
          </a:stretch>
        </p:blipFill>
        <p:spPr>
          <a:xfrm>
            <a:off x="6736322" y="2983758"/>
            <a:ext cx="245791" cy="245791"/>
          </a:xfrm>
          <a:prstGeom prst="rect">
            <a:avLst/>
          </a:prstGeom>
        </p:spPr>
      </p:pic>
      <p:sp>
        <p:nvSpPr>
          <p:cNvPr id="27" name="Text 20"/>
          <p:cNvSpPr/>
          <p:nvPr/>
        </p:nvSpPr>
        <p:spPr>
          <a:xfrm>
            <a:off x="7220560" y="2779776"/>
            <a:ext cx="4221328" cy="310896"/>
          </a:xfrm>
          <a:prstGeom prst="rect">
            <a:avLst/>
          </a:prstGeom>
          <a:noFill/>
          <a:ln/>
        </p:spPr>
        <p:txBody>
          <a:bodyPr wrap="square" lIns="0" tIns="0" rIns="0" bIns="0" rtlCol="0" anchor="ctr"/>
          <a:lstStyle/>
          <a:p>
            <a:pPr marL="0" indent="0">
              <a:buNone/>
            </a:pPr>
            <a:r>
              <a:rPr lang="en-US" sz="1550" b="1" dirty="0">
                <a:solidFill>
                  <a:srgbClr val="1F6F6B"/>
                </a:solidFill>
                <a:latin typeface="Calibri" pitchFamily="34" charset="0"/>
                <a:ea typeface="Calibri" pitchFamily="34" charset="-122"/>
                <a:cs typeface="Calibri" pitchFamily="34" charset="-120"/>
              </a:rPr>
              <a:t>DevOps</a:t>
            </a:r>
            <a:endParaRPr lang="en-US" sz="1550" dirty="0"/>
          </a:p>
        </p:txBody>
      </p:sp>
      <p:sp>
        <p:nvSpPr>
          <p:cNvPr id="28" name="Text 21"/>
          <p:cNvSpPr/>
          <p:nvPr/>
        </p:nvSpPr>
        <p:spPr>
          <a:xfrm>
            <a:off x="7220560" y="3035808"/>
            <a:ext cx="4221328" cy="310896"/>
          </a:xfrm>
          <a:prstGeom prst="rect">
            <a:avLst/>
          </a:prstGeom>
          <a:noFill/>
          <a:ln/>
        </p:spPr>
        <p:txBody>
          <a:bodyPr wrap="square" lIns="0" tIns="0" rIns="0" bIns="0" rtlCol="0" anchor="ctr"/>
          <a:lstStyle/>
          <a:p>
            <a:pPr marL="0" indent="0">
              <a:buNone/>
            </a:pPr>
            <a:r>
              <a:rPr lang="en-US" sz="1400" dirty="0">
                <a:solidFill>
                  <a:srgbClr val="2E3A3A"/>
                </a:solidFill>
                <a:latin typeface="Calibri" pitchFamily="34" charset="0"/>
                <a:ea typeface="Calibri" pitchFamily="34" charset="-122"/>
                <a:cs typeface="Calibri" pitchFamily="34" charset="-120"/>
              </a:rPr>
              <a:t>Jenkins, Docker, Kubernetes</a:t>
            </a:r>
            <a:endParaRPr lang="en-US" sz="1400" dirty="0"/>
          </a:p>
        </p:txBody>
      </p:sp>
      <p:sp>
        <p:nvSpPr>
          <p:cNvPr id="34" name="Shape 26"/>
          <p:cNvSpPr/>
          <p:nvPr/>
        </p:nvSpPr>
        <p:spPr>
          <a:xfrm>
            <a:off x="548640" y="3803904"/>
            <a:ext cx="5318608" cy="914400"/>
          </a:xfrm>
          <a:prstGeom prst="roundRect">
            <a:avLst>
              <a:gd name="adj" fmla="val 8000"/>
            </a:avLst>
          </a:prstGeom>
          <a:solidFill>
            <a:srgbClr val="FFFFFF"/>
          </a:solidFill>
          <a:ln w="12700">
            <a:solidFill>
              <a:srgbClr val="DFDBD2"/>
            </a:solidFill>
            <a:prstDash val="solid"/>
          </a:ln>
          <a:effectLst>
            <a:outerShdw blurRad="76200" dist="12700" dir="5400000" algn="bl" rotWithShape="0">
              <a:srgbClr val="9A948A">
                <a:alpha val="18000"/>
              </a:srgbClr>
            </a:outerShdw>
          </a:effectLst>
        </p:spPr>
      </p:sp>
      <p:sp>
        <p:nvSpPr>
          <p:cNvPr id="35" name="Shape 27"/>
          <p:cNvSpPr/>
          <p:nvPr/>
        </p:nvSpPr>
        <p:spPr>
          <a:xfrm>
            <a:off x="804672" y="3997335"/>
            <a:ext cx="512064" cy="512064"/>
          </a:xfrm>
          <a:prstGeom prst="ellipse">
            <a:avLst/>
          </a:prstGeom>
          <a:solidFill>
            <a:srgbClr val="E3EDEB"/>
          </a:solidFill>
          <a:ln w="12700">
            <a:solidFill>
              <a:srgbClr val="E3EDEB"/>
            </a:solidFill>
            <a:prstDash val="solid"/>
          </a:ln>
        </p:spPr>
      </p:sp>
      <p:pic>
        <p:nvPicPr>
          <p:cNvPr id="36" name="Image 6" descr="preencoded.png"/>
          <p:cNvPicPr>
            <a:picLocks noChangeAspect="1"/>
          </p:cNvPicPr>
          <p:nvPr/>
        </p:nvPicPr>
        <p:blipFill>
          <a:blip r:embed="rId7"/>
          <a:stretch>
            <a:fillRect/>
          </a:stretch>
        </p:blipFill>
        <p:spPr>
          <a:xfrm>
            <a:off x="937809" y="4138208"/>
            <a:ext cx="245791" cy="245791"/>
          </a:xfrm>
          <a:prstGeom prst="rect">
            <a:avLst/>
          </a:prstGeom>
        </p:spPr>
      </p:pic>
      <p:sp>
        <p:nvSpPr>
          <p:cNvPr id="37" name="Text 28"/>
          <p:cNvSpPr/>
          <p:nvPr/>
        </p:nvSpPr>
        <p:spPr>
          <a:xfrm>
            <a:off x="1444752" y="3982760"/>
            <a:ext cx="4221328" cy="310896"/>
          </a:xfrm>
          <a:prstGeom prst="rect">
            <a:avLst/>
          </a:prstGeom>
          <a:noFill/>
          <a:ln/>
        </p:spPr>
        <p:txBody>
          <a:bodyPr wrap="square" lIns="0" tIns="0" rIns="0" bIns="0" rtlCol="0" anchor="ctr"/>
          <a:lstStyle/>
          <a:p>
            <a:pPr marL="0" indent="0">
              <a:buNone/>
            </a:pPr>
            <a:r>
              <a:rPr lang="en-US" sz="1550" b="1" dirty="0">
                <a:solidFill>
                  <a:srgbClr val="1F6F6B"/>
                </a:solidFill>
                <a:latin typeface="Calibri" pitchFamily="34" charset="0"/>
                <a:ea typeface="Calibri" pitchFamily="34" charset="-122"/>
                <a:cs typeface="Calibri" pitchFamily="34" charset="-120"/>
              </a:rPr>
              <a:t>AI</a:t>
            </a:r>
            <a:endParaRPr lang="en-US" sz="1550" dirty="0"/>
          </a:p>
        </p:txBody>
      </p:sp>
      <p:sp>
        <p:nvSpPr>
          <p:cNvPr id="38" name="Text 29"/>
          <p:cNvSpPr/>
          <p:nvPr/>
        </p:nvSpPr>
        <p:spPr>
          <a:xfrm>
            <a:off x="1444752" y="4228551"/>
            <a:ext cx="4221328" cy="310896"/>
          </a:xfrm>
          <a:prstGeom prst="rect">
            <a:avLst/>
          </a:prstGeom>
          <a:noFill/>
          <a:ln/>
        </p:spPr>
        <p:txBody>
          <a:bodyPr wrap="square" lIns="0" tIns="0" rIns="0" bIns="0" rtlCol="0" anchor="ctr"/>
          <a:lstStyle/>
          <a:p>
            <a:pPr marL="0" indent="0">
              <a:buNone/>
            </a:pPr>
            <a:r>
              <a:rPr lang="en-US" sz="1400" dirty="0">
                <a:solidFill>
                  <a:srgbClr val="2E3A3A"/>
                </a:solidFill>
                <a:latin typeface="Calibri" pitchFamily="34" charset="0"/>
                <a:ea typeface="Calibri" pitchFamily="34" charset="-122"/>
                <a:cs typeface="Calibri" pitchFamily="34" charset="-120"/>
              </a:rPr>
              <a:t>LLM </a:t>
            </a:r>
            <a:r>
              <a:rPr lang="en-US" sz="1400" dirty="0" smtClean="0">
                <a:solidFill>
                  <a:srgbClr val="2E3A3A"/>
                </a:solidFill>
                <a:latin typeface="Calibri" pitchFamily="34" charset="0"/>
                <a:ea typeface="Calibri" pitchFamily="34" charset="-122"/>
                <a:cs typeface="Calibri" pitchFamily="34" charset="-120"/>
              </a:rPr>
              <a:t>APIs</a:t>
            </a:r>
            <a:endParaRPr lang="en-US" sz="1400" dirty="0"/>
          </a:p>
        </p:txBody>
      </p:sp>
      <p:sp>
        <p:nvSpPr>
          <p:cNvPr id="44" name="Text 34"/>
          <p:cNvSpPr/>
          <p:nvPr/>
        </p:nvSpPr>
        <p:spPr>
          <a:xfrm>
            <a:off x="548640" y="6272784"/>
            <a:ext cx="7315200" cy="274320"/>
          </a:xfrm>
          <a:prstGeom prst="rect">
            <a:avLst/>
          </a:prstGeom>
          <a:noFill/>
          <a:ln/>
        </p:spPr>
        <p:txBody>
          <a:bodyPr wrap="square" lIns="0" tIns="0" rIns="0" bIns="0" rtlCol="0" anchor="ctr"/>
          <a:lstStyle/>
          <a:p>
            <a:pPr marL="0" indent="0" algn="l">
              <a:buNone/>
            </a:pPr>
            <a:r>
              <a:rPr lang="en-US" sz="1000" dirty="0">
                <a:solidFill>
                  <a:srgbClr val="6B7A79"/>
                </a:solidFill>
                <a:latin typeface="Calibri" pitchFamily="34" charset="0"/>
                <a:ea typeface="Calibri" pitchFamily="34" charset="-122"/>
                <a:cs typeface="Calibri" pitchFamily="34" charset="-120"/>
              </a:rPr>
              <a:t>NeuroForge Enterprise SDLC Platform</a:t>
            </a:r>
            <a:endParaRPr lang="en-US" sz="1000" dirty="0"/>
          </a:p>
        </p:txBody>
      </p:sp>
      <p:sp>
        <p:nvSpPr>
          <p:cNvPr id="45" name="Text 35"/>
          <p:cNvSpPr/>
          <p:nvPr/>
        </p:nvSpPr>
        <p:spPr>
          <a:xfrm>
            <a:off x="10467701" y="6272784"/>
            <a:ext cx="1097280" cy="274320"/>
          </a:xfrm>
          <a:prstGeom prst="rect">
            <a:avLst/>
          </a:prstGeom>
          <a:noFill/>
          <a:ln/>
        </p:spPr>
        <p:txBody>
          <a:bodyPr wrap="square" lIns="0" tIns="0" rIns="0" bIns="0" rtlCol="0" anchor="ctr"/>
          <a:lstStyle/>
          <a:p>
            <a:pPr marL="0" indent="0" algn="r">
              <a:buNone/>
            </a:pPr>
            <a:r>
              <a:rPr lang="en-US" sz="1000" dirty="0" smtClean="0">
                <a:solidFill>
                  <a:srgbClr val="6B7A79"/>
                </a:solidFill>
                <a:latin typeface="Calibri" pitchFamily="34" charset="0"/>
                <a:ea typeface="Calibri" pitchFamily="34" charset="-122"/>
                <a:cs typeface="Calibri" pitchFamily="34" charset="-120"/>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marL="0" indent="0" algn="l">
              <a:buNone/>
            </a:pPr>
            <a:r>
              <a:rPr lang="en-US" sz="3200" b="1" dirty="0">
                <a:solidFill>
                  <a:srgbClr val="1F6F6B"/>
                </a:solidFill>
                <a:latin typeface="Cambria" pitchFamily="34" charset="0"/>
                <a:ea typeface="Cambria" pitchFamily="34" charset="-122"/>
                <a:cs typeface="Cambria" pitchFamily="34" charset="-120"/>
              </a:rPr>
              <a:t>Use Case Diagram</a:t>
            </a:r>
            <a:endParaRPr lang="en-US" sz="3200" dirty="0"/>
          </a:p>
        </p:txBody>
      </p:sp>
      <p:sp>
        <p:nvSpPr>
          <p:cNvPr id="3" name="Text 1"/>
          <p:cNvSpPr/>
          <p:nvPr/>
        </p:nvSpPr>
        <p:spPr>
          <a:xfrm>
            <a:off x="548640" y="950976"/>
            <a:ext cx="11094415" cy="310896"/>
          </a:xfrm>
          <a:prstGeom prst="rect">
            <a:avLst/>
          </a:prstGeom>
          <a:noFill/>
          <a:ln/>
        </p:spPr>
        <p:txBody>
          <a:bodyPr wrap="square" lIns="0" tIns="0" rIns="0" bIns="0" rtlCol="0" anchor="ctr"/>
          <a:lstStyle/>
          <a:p>
            <a:pPr marL="0" indent="0" algn="l">
              <a:buNone/>
            </a:pPr>
            <a:r>
              <a:rPr lang="en-US" sz="1400" i="1" dirty="0">
                <a:solidFill>
                  <a:srgbClr val="6B7A79"/>
                </a:solidFill>
                <a:latin typeface="Calibri" pitchFamily="34" charset="0"/>
                <a:ea typeface="Calibri" pitchFamily="34" charset="-122"/>
                <a:cs typeface="Calibri" pitchFamily="34" charset="-120"/>
              </a:rPr>
              <a:t>How each of the platform's user roles interacts with the system.</a:t>
            </a:r>
            <a:endParaRPr lang="en-US" sz="1400" dirty="0"/>
          </a:p>
        </p:txBody>
      </p:sp>
      <p:sp>
        <p:nvSpPr>
          <p:cNvPr id="4" name="Card"/>
          <p:cNvSpPr/>
          <p:nvPr/>
        </p:nvSpPr>
        <p:spPr>
          <a:xfrm>
            <a:off x="610186" y="1517904"/>
            <a:ext cx="11094415" cy="4828032"/>
          </a:xfrm>
          <a:prstGeom prst="roundRect">
            <a:avLst>
              <a:gd name="adj" fmla="val 1633"/>
            </a:avLst>
          </a:prstGeom>
          <a:solidFill>
            <a:srgbClr val="FFFFFF"/>
          </a:solidFill>
          <a:ln w="12700">
            <a:solidFill>
              <a:srgbClr val="DFDBD2"/>
            </a:solidFill>
            <a:prstDash val="solid"/>
          </a:ln>
          <a:effectLst>
            <a:outerShdw blurRad="76200" dist="12700" dir="5400000" algn="bl" rotWithShape="0">
              <a:srgbClr val="9A948A">
                <a:alpha val="18000"/>
              </a:srgbClr>
            </a:outerShdw>
          </a:effectLst>
        </p:spPr>
      </p:sp>
      <p:sp>
        <p:nvSpPr>
          <p:cNvPr id="5" name="Bullets"/>
          <p:cNvSpPr/>
          <p:nvPr/>
        </p:nvSpPr>
        <p:spPr>
          <a:xfrm>
            <a:off x="1051560" y="1938528"/>
            <a:ext cx="10088575" cy="3913632"/>
          </a:xfrm>
          <a:prstGeom prst="rect">
            <a:avLst/>
          </a:prstGeom>
          <a:noFill/>
          <a:ln/>
        </p:spPr>
        <p:txBody>
          <a:bodyPr wrap="square" lIns="0" tIns="0" rIns="0" bIns="0" rtlCol="0" anchor="ctr"/>
          <a:lstStyle/>
          <a:p>
            <a:pPr marL="285750" indent="-285750">
              <a:spcBef>
                <a:spcPts val="0"/>
              </a:spcBef>
              <a:spcAft>
                <a:spcPts val="1400"/>
              </a:spcAft>
              <a:buFont typeface="Arial" pitchFamily="34" charset="0"/>
              <a:buChar char="●"/>
            </a:pPr>
            <a:r>
              <a:rPr lang="en-US" sz="1500" dirty="0">
                <a:solidFill>
                  <a:srgbClr val="2E3A3A"/>
                </a:solidFill>
                <a:latin typeface="Calibri" pitchFamily="34" charset="0"/>
                <a:ea typeface="Calibri" pitchFamily="34" charset="-122"/>
                <a:cs typeface="Calibri" pitchFamily="34" charset="-120"/>
              </a:rPr>
              <a:t>A use case diagram maps the functional scope of a system by showing actors (users or external systems) and the actions, or “use cases,” available to them.</a:t>
            </a:r>
          </a:p>
          <a:p>
            <a:pPr marL="285750" indent="-285750">
              <a:spcBef>
                <a:spcPts val="0"/>
              </a:spcBef>
              <a:spcAft>
                <a:spcPts val="1400"/>
              </a:spcAft>
              <a:buFont typeface="Arial" pitchFamily="34" charset="0"/>
              <a:buChar char="●"/>
            </a:pPr>
            <a:r>
              <a:rPr lang="en-US" sz="1500" dirty="0">
                <a:solidFill>
                  <a:srgbClr val="2E3A3A"/>
                </a:solidFill>
                <a:latin typeface="Calibri" pitchFamily="34" charset="0"/>
                <a:ea typeface="Calibri" pitchFamily="34" charset="-122"/>
                <a:cs typeface="Calibri" pitchFamily="34" charset="-120"/>
              </a:rPr>
              <a:t>In this project, it captures how all nine user roles — from Business Analyst to DevOps Engineer — engage with the platform's core capabilities, from requirements to deployment.</a:t>
            </a:r>
          </a:p>
          <a:p>
            <a:pPr marL="285750" indent="-285750">
              <a:spcBef>
                <a:spcPts val="0"/>
              </a:spcBef>
              <a:spcAft>
                <a:spcPts val="1400"/>
              </a:spcAft>
              <a:buFont typeface="Arial" pitchFamily="34" charset="0"/>
              <a:buChar char="●"/>
            </a:pPr>
            <a:r>
              <a:rPr lang="en-US" sz="1500" dirty="0">
                <a:solidFill>
                  <a:srgbClr val="2E3A3A"/>
                </a:solidFill>
                <a:latin typeface="Calibri" pitchFamily="34" charset="0"/>
                <a:ea typeface="Calibri" pitchFamily="34" charset="-122"/>
                <a:cs typeface="Calibri" pitchFamily="34" charset="-120"/>
              </a:rPr>
              <a:t>It highlights where the AI Engine supports human tasks, such as generating user stories, suggesting architecture, and writing test cases, through «supports» relationships.</a:t>
            </a:r>
          </a:p>
          <a:p>
            <a:pPr marL="285750" indent="-285750">
              <a:spcBef>
                <a:spcPts val="0"/>
              </a:spcBef>
              <a:spcAft>
                <a:spcPts val="1400"/>
              </a:spcAft>
              <a:buFont typeface="Arial" pitchFamily="34" charset="0"/>
              <a:buChar char="●"/>
            </a:pPr>
            <a:r>
              <a:rPr lang="en-US" sz="1500" dirty="0">
                <a:solidFill>
                  <a:srgbClr val="2E3A3A"/>
                </a:solidFill>
                <a:latin typeface="Calibri" pitchFamily="34" charset="0"/>
                <a:ea typeface="Calibri" pitchFamily="34" charset="-122"/>
                <a:cs typeface="Calibri" pitchFamily="34" charset="-120"/>
              </a:rPr>
              <a:t>It also documents «include» and «extend» relationships, showing mandatory sub-steps and optional exception flows like bug reporting.</a:t>
            </a:r>
          </a:p>
          <a:p>
            <a:pPr marL="285750" indent="-285750">
              <a:spcBef>
                <a:spcPts val="0"/>
              </a:spcBef>
              <a:spcAft>
                <a:spcPts val="1400"/>
              </a:spcAft>
              <a:buFont typeface="Arial" pitchFamily="34" charset="0"/>
              <a:buChar char="●"/>
            </a:pPr>
            <a:r>
              <a:rPr lang="en-US" sz="1500" dirty="0">
                <a:solidFill>
                  <a:srgbClr val="2E3A3A"/>
                </a:solidFill>
                <a:latin typeface="Calibri" pitchFamily="34" charset="0"/>
                <a:ea typeface="Calibri" pitchFamily="34" charset="-122"/>
                <a:cs typeface="Calibri" pitchFamily="34" charset="-120"/>
              </a:rPr>
              <a:t>Together, it gives stakeholders a single reference for who can do what within the system, grounding requirements discussions and access-control design.</a:t>
            </a:r>
          </a:p>
        </p:txBody>
      </p:sp>
      <p:sp>
        <p:nvSpPr>
          <p:cNvPr id="6" name="Text 35"/>
          <p:cNvSpPr/>
          <p:nvPr/>
        </p:nvSpPr>
        <p:spPr>
          <a:xfrm>
            <a:off x="10545775" y="6345936"/>
            <a:ext cx="1158826" cy="274320"/>
          </a:xfrm>
          <a:prstGeom prst="rect">
            <a:avLst/>
          </a:prstGeom>
          <a:noFill/>
          <a:ln/>
        </p:spPr>
        <p:txBody>
          <a:bodyPr wrap="square" lIns="0" tIns="0" rIns="0" bIns="0" rtlCol="0" anchor="ctr"/>
          <a:lstStyle/>
          <a:p>
            <a:pPr marL="0" indent="0" algn="r">
              <a:buNone/>
            </a:pPr>
            <a:r>
              <a:rPr lang="en-US" sz="1000" dirty="0" smtClean="0">
                <a:solidFill>
                  <a:srgbClr val="6B7A79"/>
                </a:solidFill>
                <a:latin typeface="Calibri" pitchFamily="34" charset="0"/>
                <a:ea typeface="Calibri" pitchFamily="34" charset="-122"/>
                <a:cs typeface="Calibri" pitchFamily="34" charset="-120"/>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marL="0" indent="0" algn="l">
              <a:buNone/>
            </a:pPr>
            <a:r>
              <a:rPr lang="en-US" sz="3200" b="1" dirty="0">
                <a:solidFill>
                  <a:srgbClr val="1F6F6B"/>
                </a:solidFill>
                <a:latin typeface="Cambria" pitchFamily="34" charset="0"/>
                <a:ea typeface="Cambria" pitchFamily="34" charset="-122"/>
                <a:cs typeface="Cambria" pitchFamily="34" charset="-120"/>
              </a:rPr>
              <a:t>Use Case Diagram</a:t>
            </a:r>
            <a:endParaRPr lang="en-US" sz="3200" dirty="0"/>
          </a:p>
        </p:txBody>
      </p:sp>
      <p:sp>
        <p:nvSpPr>
          <p:cNvPr id="3" name="Card"/>
          <p:cNvSpPr/>
          <p:nvPr/>
        </p:nvSpPr>
        <p:spPr>
          <a:xfrm>
            <a:off x="4728450" y="1371600"/>
            <a:ext cx="2735101" cy="4846320"/>
          </a:xfrm>
          <a:prstGeom prst="roundRect">
            <a:avLst>
              <a:gd name="adj" fmla="val 1633"/>
            </a:avLst>
          </a:prstGeom>
          <a:solidFill>
            <a:srgbClr val="FFFFFF"/>
          </a:solidFill>
          <a:ln w="12700">
            <a:solidFill>
              <a:srgbClr val="DFDBD2"/>
            </a:solidFill>
            <a:prstDash val="solid"/>
          </a:ln>
          <a:effectLst>
            <a:outerShdw blurRad="76200" dist="12700" dir="5400000" algn="bl" rotWithShape="0">
              <a:srgbClr val="9A948A">
                <a:alpha val="18000"/>
              </a:srgbClr>
            </a:outerShdw>
          </a:effectLst>
        </p:spPr>
      </p:sp>
      <p:pic>
        <p:nvPicPr>
          <p:cNvPr id="4" name="Diagram Image" descr="diagram.png"/>
          <p:cNvPicPr>
            <a:picLocks noChangeAspect="1"/>
          </p:cNvPicPr>
          <p:nvPr/>
        </p:nvPicPr>
        <p:blipFill>
          <a:blip r:embed="rId2"/>
          <a:stretch>
            <a:fillRect/>
          </a:stretch>
        </p:blipFill>
        <p:spPr>
          <a:xfrm>
            <a:off x="5002770" y="1645920"/>
            <a:ext cx="2186461" cy="4297680"/>
          </a:xfrm>
          <a:prstGeom prst="rect">
            <a:avLst/>
          </a:prstGeom>
        </p:spPr>
      </p:pic>
      <p:sp>
        <p:nvSpPr>
          <p:cNvPr id="5" name="Text 35"/>
          <p:cNvSpPr/>
          <p:nvPr/>
        </p:nvSpPr>
        <p:spPr>
          <a:xfrm>
            <a:off x="10467701" y="6272784"/>
            <a:ext cx="1097280" cy="274320"/>
          </a:xfrm>
          <a:prstGeom prst="rect">
            <a:avLst/>
          </a:prstGeom>
          <a:noFill/>
          <a:ln/>
        </p:spPr>
        <p:txBody>
          <a:bodyPr wrap="square" lIns="0" tIns="0" rIns="0" bIns="0" rtlCol="0" anchor="ctr"/>
          <a:lstStyle/>
          <a:p>
            <a:pPr marL="0" indent="0" algn="r">
              <a:buNone/>
            </a:pPr>
            <a:r>
              <a:rPr lang="en-US" sz="1000" dirty="0" smtClean="0">
                <a:solidFill>
                  <a:srgbClr val="6B7A79"/>
                </a:solidFill>
                <a:latin typeface="Calibri" pitchFamily="34" charset="0"/>
                <a:ea typeface="Calibri" pitchFamily="34" charset="-122"/>
                <a:cs typeface="Calibri" pitchFamily="34" charset="-120"/>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marL="0" indent="0" algn="l">
              <a:buNone/>
            </a:pPr>
            <a:r>
              <a:rPr lang="en-US" sz="3200" b="1" dirty="0">
                <a:solidFill>
                  <a:srgbClr val="1F6F6B"/>
                </a:solidFill>
                <a:latin typeface="Cambria" pitchFamily="34" charset="0"/>
                <a:ea typeface="Cambria" pitchFamily="34" charset="-122"/>
                <a:cs typeface="Cambria" pitchFamily="34" charset="-120"/>
              </a:rPr>
              <a:t>Class Diagram</a:t>
            </a:r>
            <a:endParaRPr lang="en-US" sz="3200" dirty="0"/>
          </a:p>
        </p:txBody>
      </p:sp>
      <p:sp>
        <p:nvSpPr>
          <p:cNvPr id="3" name="Text 1"/>
          <p:cNvSpPr/>
          <p:nvPr/>
        </p:nvSpPr>
        <p:spPr>
          <a:xfrm>
            <a:off x="548640" y="950976"/>
            <a:ext cx="11094415" cy="310896"/>
          </a:xfrm>
          <a:prstGeom prst="rect">
            <a:avLst/>
          </a:prstGeom>
          <a:noFill/>
          <a:ln/>
        </p:spPr>
        <p:txBody>
          <a:bodyPr wrap="square" lIns="0" tIns="0" rIns="0" bIns="0" rtlCol="0" anchor="ctr"/>
          <a:lstStyle/>
          <a:p>
            <a:pPr marL="0" indent="0" algn="l">
              <a:buNone/>
            </a:pPr>
            <a:r>
              <a:rPr lang="en-US" sz="1400" i="1" dirty="0">
                <a:solidFill>
                  <a:srgbClr val="6B7A79"/>
                </a:solidFill>
                <a:latin typeface="Calibri" pitchFamily="34" charset="0"/>
                <a:ea typeface="Calibri" pitchFamily="34" charset="-122"/>
                <a:cs typeface="Calibri" pitchFamily="34" charset="-120"/>
              </a:rPr>
              <a:t>The structural blueprint of the platform's core domain objects.</a:t>
            </a:r>
            <a:endParaRPr lang="en-US" sz="1400" dirty="0"/>
          </a:p>
        </p:txBody>
      </p:sp>
      <p:sp>
        <p:nvSpPr>
          <p:cNvPr id="4" name="Card"/>
          <p:cNvSpPr/>
          <p:nvPr/>
        </p:nvSpPr>
        <p:spPr>
          <a:xfrm>
            <a:off x="548640" y="1481328"/>
            <a:ext cx="11094415" cy="4828032"/>
          </a:xfrm>
          <a:prstGeom prst="roundRect">
            <a:avLst>
              <a:gd name="adj" fmla="val 1633"/>
            </a:avLst>
          </a:prstGeom>
          <a:solidFill>
            <a:srgbClr val="FFFFFF"/>
          </a:solidFill>
          <a:ln w="12700">
            <a:solidFill>
              <a:srgbClr val="DFDBD2"/>
            </a:solidFill>
            <a:prstDash val="solid"/>
          </a:ln>
          <a:effectLst>
            <a:outerShdw blurRad="76200" dist="12700" dir="5400000" algn="bl" rotWithShape="0">
              <a:srgbClr val="9A948A">
                <a:alpha val="18000"/>
              </a:srgbClr>
            </a:outerShdw>
          </a:effectLst>
        </p:spPr>
      </p:sp>
      <p:sp>
        <p:nvSpPr>
          <p:cNvPr id="5" name="Bullets"/>
          <p:cNvSpPr/>
          <p:nvPr/>
        </p:nvSpPr>
        <p:spPr>
          <a:xfrm>
            <a:off x="1051560" y="1938528"/>
            <a:ext cx="10088575" cy="3913632"/>
          </a:xfrm>
          <a:prstGeom prst="rect">
            <a:avLst/>
          </a:prstGeom>
          <a:noFill/>
          <a:ln/>
        </p:spPr>
        <p:txBody>
          <a:bodyPr wrap="square" lIns="0" tIns="0" rIns="0" bIns="0" rtlCol="0" anchor="ctr"/>
          <a:lstStyle/>
          <a:p>
            <a:pPr marL="285750" indent="-285750">
              <a:spcBef>
                <a:spcPts val="0"/>
              </a:spcBef>
              <a:spcAft>
                <a:spcPts val="1400"/>
              </a:spcAft>
              <a:buFont typeface="Arial" pitchFamily="34" charset="0"/>
              <a:buChar char="●"/>
            </a:pPr>
            <a:r>
              <a:rPr lang="en-US" sz="1500" dirty="0">
                <a:solidFill>
                  <a:srgbClr val="2E3A3A"/>
                </a:solidFill>
                <a:latin typeface="Calibri" pitchFamily="34" charset="0"/>
                <a:ea typeface="Calibri" pitchFamily="34" charset="-122"/>
                <a:cs typeface="Calibri" pitchFamily="34" charset="-120"/>
              </a:rPr>
              <a:t>A class diagram models a system's static structure: its classes, their attributes and operations, and the relationships between them.</a:t>
            </a:r>
          </a:p>
          <a:p>
            <a:pPr marL="285750" indent="-285750">
              <a:spcBef>
                <a:spcPts val="0"/>
              </a:spcBef>
              <a:spcAft>
                <a:spcPts val="1400"/>
              </a:spcAft>
              <a:buFont typeface="Arial" pitchFamily="34" charset="0"/>
              <a:buChar char="●"/>
            </a:pPr>
            <a:r>
              <a:rPr lang="en-US" sz="1500" dirty="0">
                <a:solidFill>
                  <a:srgbClr val="2E3A3A"/>
                </a:solidFill>
                <a:latin typeface="Calibri" pitchFamily="34" charset="0"/>
                <a:ea typeface="Calibri" pitchFamily="34" charset="-122"/>
                <a:cs typeface="Calibri" pitchFamily="34" charset="-120"/>
              </a:rPr>
              <a:t>It shows how all nine user roles specialize from a shared User class, inheriting login, logout, and profile management.</a:t>
            </a:r>
          </a:p>
          <a:p>
            <a:pPr marL="285750" indent="-285750">
              <a:spcBef>
                <a:spcPts val="0"/>
              </a:spcBef>
              <a:spcAft>
                <a:spcPts val="1400"/>
              </a:spcAft>
              <a:buFont typeface="Arial" pitchFamily="34" charset="0"/>
              <a:buChar char="●"/>
            </a:pPr>
            <a:r>
              <a:rPr lang="en-US" sz="1500" dirty="0">
                <a:solidFill>
                  <a:srgbClr val="2E3A3A"/>
                </a:solidFill>
                <a:latin typeface="Calibri" pitchFamily="34" charset="0"/>
                <a:ea typeface="Calibri" pitchFamily="34" charset="-122"/>
                <a:cs typeface="Calibri" pitchFamily="34" charset="-120"/>
              </a:rPr>
              <a:t>It defines the core domain entities — Project, Requirement, UserStory, Sprint, Task, Repository, TestCase, Bug, Deployment — and how they connect across the project lifecycle.</a:t>
            </a:r>
          </a:p>
          <a:p>
            <a:pPr marL="285750" indent="-285750">
              <a:spcBef>
                <a:spcPts val="0"/>
              </a:spcBef>
              <a:spcAft>
                <a:spcPts val="1400"/>
              </a:spcAft>
              <a:buFont typeface="Arial" pitchFamily="34" charset="0"/>
              <a:buChar char="●"/>
            </a:pPr>
            <a:r>
              <a:rPr lang="en-US" sz="1500" dirty="0">
                <a:solidFill>
                  <a:srgbClr val="2E3A3A"/>
                </a:solidFill>
                <a:latin typeface="Calibri" pitchFamily="34" charset="0"/>
                <a:ea typeface="Calibri" pitchFamily="34" charset="-122"/>
                <a:cs typeface="Calibri" pitchFamily="34" charset="-120"/>
              </a:rPr>
              <a:t>The AIEngine class and its «supports» dependencies show exactly where AI-generated suggestions plug into human-owned workflows.</a:t>
            </a:r>
          </a:p>
          <a:p>
            <a:pPr marL="285750" indent="-285750">
              <a:spcBef>
                <a:spcPts val="0"/>
              </a:spcBef>
              <a:spcAft>
                <a:spcPts val="1400"/>
              </a:spcAft>
              <a:buFont typeface="Arial" pitchFamily="34" charset="0"/>
              <a:buChar char="●"/>
            </a:pPr>
            <a:r>
              <a:rPr lang="en-US" sz="1500" dirty="0">
                <a:solidFill>
                  <a:srgbClr val="2E3A3A"/>
                </a:solidFill>
                <a:latin typeface="Calibri" pitchFamily="34" charset="0"/>
                <a:ea typeface="Calibri" pitchFamily="34" charset="-122"/>
                <a:cs typeface="Calibri" pitchFamily="34" charset="-120"/>
              </a:rPr>
              <a:t>This diagram is the reference used to design the database schema and the application's object model.</a:t>
            </a:r>
          </a:p>
        </p:txBody>
      </p:sp>
      <p:sp>
        <p:nvSpPr>
          <p:cNvPr id="6" name="Text 35"/>
          <p:cNvSpPr/>
          <p:nvPr/>
        </p:nvSpPr>
        <p:spPr>
          <a:xfrm>
            <a:off x="10591495" y="6272784"/>
            <a:ext cx="1097280" cy="274320"/>
          </a:xfrm>
          <a:prstGeom prst="rect">
            <a:avLst/>
          </a:prstGeom>
          <a:noFill/>
          <a:ln/>
        </p:spPr>
        <p:txBody>
          <a:bodyPr wrap="square" lIns="0" tIns="0" rIns="0" bIns="0" rtlCol="0" anchor="ctr"/>
          <a:lstStyle/>
          <a:p>
            <a:pPr marL="0" indent="0" algn="r">
              <a:buNone/>
            </a:pPr>
            <a:r>
              <a:rPr lang="en-US" sz="1000" dirty="0" smtClean="0">
                <a:solidFill>
                  <a:srgbClr val="6B7A79"/>
                </a:solidFill>
                <a:latin typeface="Calibri" pitchFamily="34" charset="0"/>
                <a:ea typeface="Calibri" pitchFamily="34" charset="-122"/>
                <a:cs typeface="Calibri" pitchFamily="34" charset="-120"/>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marL="0" indent="0" algn="l">
              <a:buNone/>
            </a:pPr>
            <a:r>
              <a:rPr lang="en-US" sz="3200" b="1" dirty="0">
                <a:solidFill>
                  <a:srgbClr val="1F6F6B"/>
                </a:solidFill>
                <a:latin typeface="Cambria" pitchFamily="34" charset="0"/>
                <a:ea typeface="Cambria" pitchFamily="34" charset="-122"/>
                <a:cs typeface="Cambria" pitchFamily="34" charset="-120"/>
              </a:rPr>
              <a:t>Class Diagram</a:t>
            </a:r>
            <a:endParaRPr lang="en-US" sz="3200" dirty="0"/>
          </a:p>
        </p:txBody>
      </p:sp>
      <p:sp>
        <p:nvSpPr>
          <p:cNvPr id="3" name="Card"/>
          <p:cNvSpPr/>
          <p:nvPr/>
        </p:nvSpPr>
        <p:spPr>
          <a:xfrm>
            <a:off x="2211629" y="1371600"/>
            <a:ext cx="7768742" cy="4846320"/>
          </a:xfrm>
          <a:prstGeom prst="roundRect">
            <a:avLst>
              <a:gd name="adj" fmla="val 1633"/>
            </a:avLst>
          </a:prstGeom>
          <a:solidFill>
            <a:srgbClr val="FFFFFF"/>
          </a:solidFill>
          <a:ln w="12700">
            <a:solidFill>
              <a:srgbClr val="DFDBD2"/>
            </a:solidFill>
            <a:prstDash val="solid"/>
          </a:ln>
          <a:effectLst>
            <a:outerShdw blurRad="76200" dist="12700" dir="5400000" algn="bl" rotWithShape="0">
              <a:srgbClr val="9A948A">
                <a:alpha val="18000"/>
              </a:srgbClr>
            </a:outerShdw>
          </a:effectLst>
        </p:spPr>
      </p:sp>
      <p:pic>
        <p:nvPicPr>
          <p:cNvPr id="4" name="Diagram Image" descr="diagram.png"/>
          <p:cNvPicPr>
            <a:picLocks noChangeAspect="1"/>
          </p:cNvPicPr>
          <p:nvPr/>
        </p:nvPicPr>
        <p:blipFill>
          <a:blip r:embed="rId2"/>
          <a:stretch>
            <a:fillRect/>
          </a:stretch>
        </p:blipFill>
        <p:spPr>
          <a:xfrm>
            <a:off x="2485949" y="1645920"/>
            <a:ext cx="7220102" cy="4297680"/>
          </a:xfrm>
          <a:prstGeom prst="rect">
            <a:avLst/>
          </a:prstGeom>
        </p:spPr>
      </p:pic>
      <p:sp>
        <p:nvSpPr>
          <p:cNvPr id="5" name="Text 35"/>
          <p:cNvSpPr/>
          <p:nvPr/>
        </p:nvSpPr>
        <p:spPr>
          <a:xfrm>
            <a:off x="10467701" y="6272784"/>
            <a:ext cx="1097280" cy="274320"/>
          </a:xfrm>
          <a:prstGeom prst="rect">
            <a:avLst/>
          </a:prstGeom>
          <a:noFill/>
          <a:ln/>
        </p:spPr>
        <p:txBody>
          <a:bodyPr wrap="square" lIns="0" tIns="0" rIns="0" bIns="0" rtlCol="0" anchor="ctr"/>
          <a:lstStyle/>
          <a:p>
            <a:pPr marL="0" indent="0" algn="r">
              <a:buNone/>
            </a:pPr>
            <a:r>
              <a:rPr lang="en-US" sz="1000" dirty="0" smtClean="0">
                <a:solidFill>
                  <a:srgbClr val="6B7A79"/>
                </a:solidFill>
                <a:latin typeface="Calibri" pitchFamily="34" charset="0"/>
                <a:ea typeface="Calibri" pitchFamily="34" charset="-122"/>
                <a:cs typeface="Calibri" pitchFamily="34" charset="-120"/>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marL="0" indent="0" algn="l">
              <a:buNone/>
            </a:pPr>
            <a:r>
              <a:rPr lang="en-US" sz="3200" b="1" dirty="0">
                <a:solidFill>
                  <a:srgbClr val="1F6F6B"/>
                </a:solidFill>
                <a:latin typeface="Cambria" pitchFamily="34" charset="0"/>
                <a:ea typeface="Cambria" pitchFamily="34" charset="-122"/>
                <a:cs typeface="Cambria" pitchFamily="34" charset="-120"/>
              </a:rPr>
              <a:t>Sequence Diagram</a:t>
            </a:r>
            <a:endParaRPr lang="en-US" sz="3200" dirty="0"/>
          </a:p>
        </p:txBody>
      </p:sp>
      <p:sp>
        <p:nvSpPr>
          <p:cNvPr id="3" name="Text 1"/>
          <p:cNvSpPr/>
          <p:nvPr/>
        </p:nvSpPr>
        <p:spPr>
          <a:xfrm>
            <a:off x="548640" y="950976"/>
            <a:ext cx="11094415" cy="310896"/>
          </a:xfrm>
          <a:prstGeom prst="rect">
            <a:avLst/>
          </a:prstGeom>
          <a:noFill/>
          <a:ln/>
        </p:spPr>
        <p:txBody>
          <a:bodyPr wrap="square" lIns="0" tIns="0" rIns="0" bIns="0" rtlCol="0" anchor="ctr"/>
          <a:lstStyle/>
          <a:p>
            <a:pPr marL="0" indent="0" algn="l">
              <a:buNone/>
            </a:pPr>
            <a:r>
              <a:rPr lang="en-US" sz="1400" i="1" dirty="0">
                <a:solidFill>
                  <a:srgbClr val="6B7A79"/>
                </a:solidFill>
                <a:latin typeface="Calibri" pitchFamily="34" charset="0"/>
                <a:ea typeface="Calibri" pitchFamily="34" charset="-122"/>
                <a:cs typeface="Calibri" pitchFamily="34" charset="-120"/>
              </a:rPr>
              <a:t>How a request travels through the roles and the AI Engine over time.</a:t>
            </a:r>
            <a:endParaRPr lang="en-US" sz="1400" dirty="0"/>
          </a:p>
        </p:txBody>
      </p:sp>
      <p:sp>
        <p:nvSpPr>
          <p:cNvPr id="4" name="Card"/>
          <p:cNvSpPr/>
          <p:nvPr/>
        </p:nvSpPr>
        <p:spPr>
          <a:xfrm>
            <a:off x="548640" y="1481328"/>
            <a:ext cx="11094415" cy="4828032"/>
          </a:xfrm>
          <a:prstGeom prst="roundRect">
            <a:avLst>
              <a:gd name="adj" fmla="val 1633"/>
            </a:avLst>
          </a:prstGeom>
          <a:solidFill>
            <a:srgbClr val="FFFFFF"/>
          </a:solidFill>
          <a:ln w="12700">
            <a:solidFill>
              <a:srgbClr val="DFDBD2"/>
            </a:solidFill>
            <a:prstDash val="solid"/>
          </a:ln>
          <a:effectLst>
            <a:outerShdw blurRad="76200" dist="12700" dir="5400000" algn="bl" rotWithShape="0">
              <a:srgbClr val="9A948A">
                <a:alpha val="18000"/>
              </a:srgbClr>
            </a:outerShdw>
          </a:effectLst>
        </p:spPr>
      </p:sp>
      <p:sp>
        <p:nvSpPr>
          <p:cNvPr id="5" name="Bullets"/>
          <p:cNvSpPr/>
          <p:nvPr/>
        </p:nvSpPr>
        <p:spPr>
          <a:xfrm>
            <a:off x="1051560" y="1938528"/>
            <a:ext cx="10088575" cy="3913632"/>
          </a:xfrm>
          <a:prstGeom prst="rect">
            <a:avLst/>
          </a:prstGeom>
          <a:noFill/>
          <a:ln/>
        </p:spPr>
        <p:txBody>
          <a:bodyPr wrap="square" lIns="0" tIns="0" rIns="0" bIns="0" rtlCol="0" anchor="ctr"/>
          <a:lstStyle/>
          <a:p>
            <a:pPr marL="285750" indent="-285750">
              <a:spcBef>
                <a:spcPts val="0"/>
              </a:spcBef>
              <a:spcAft>
                <a:spcPts val="1400"/>
              </a:spcAft>
              <a:buFont typeface="Arial" pitchFamily="34" charset="0"/>
              <a:buChar char="●"/>
            </a:pPr>
            <a:r>
              <a:rPr lang="en-US" sz="1500" dirty="0">
                <a:solidFill>
                  <a:srgbClr val="2E3A3A"/>
                </a:solidFill>
                <a:latin typeface="Calibri" pitchFamily="34" charset="0"/>
                <a:ea typeface="Calibri" pitchFamily="34" charset="-122"/>
                <a:cs typeface="Calibri" pitchFamily="34" charset="-120"/>
              </a:rPr>
              <a:t>A sequence diagram shows the order of messages exchanged between actors and system components for a specific scenario, read top to bottom as a timeline.</a:t>
            </a:r>
          </a:p>
          <a:p>
            <a:pPr marL="285750" indent="-285750">
              <a:spcBef>
                <a:spcPts val="0"/>
              </a:spcBef>
              <a:spcAft>
                <a:spcPts val="1400"/>
              </a:spcAft>
              <a:buFont typeface="Arial" pitchFamily="34" charset="0"/>
              <a:buChar char="●"/>
            </a:pPr>
            <a:r>
              <a:rPr lang="en-US" sz="1500" dirty="0">
                <a:solidFill>
                  <a:srgbClr val="2E3A3A"/>
                </a:solidFill>
                <a:latin typeface="Calibri" pitchFamily="34" charset="0"/>
                <a:ea typeface="Calibri" pitchFamily="34" charset="-122"/>
                <a:cs typeface="Calibri" pitchFamily="34" charset="-120"/>
              </a:rPr>
              <a:t>It traces one full delivery cycle: from a client providing requirements, through AI-assisted user story drafting and architecture suggestion, to coding, testing, and deployment.</a:t>
            </a:r>
          </a:p>
          <a:p>
            <a:pPr marL="285750" indent="-285750">
              <a:spcBef>
                <a:spcPts val="0"/>
              </a:spcBef>
              <a:spcAft>
                <a:spcPts val="1400"/>
              </a:spcAft>
              <a:buFont typeface="Arial" pitchFamily="34" charset="0"/>
              <a:buChar char="●"/>
            </a:pPr>
            <a:r>
              <a:rPr lang="en-US" sz="1500" dirty="0">
                <a:solidFill>
                  <a:srgbClr val="2E3A3A"/>
                </a:solidFill>
                <a:latin typeface="Calibri" pitchFamily="34" charset="0"/>
                <a:ea typeface="Calibri" pitchFamily="34" charset="-122"/>
                <a:cs typeface="Calibri" pitchFamily="34" charset="-120"/>
              </a:rPr>
              <a:t>Dashed return arrows mark AI-generated suggestions that always require human review and acceptance before work proceeds.</a:t>
            </a:r>
          </a:p>
          <a:p>
            <a:pPr marL="285750" indent="-285750">
              <a:spcBef>
                <a:spcPts val="0"/>
              </a:spcBef>
              <a:spcAft>
                <a:spcPts val="1400"/>
              </a:spcAft>
              <a:buFont typeface="Arial" pitchFamily="34" charset="0"/>
              <a:buChar char="●"/>
            </a:pPr>
            <a:r>
              <a:rPr lang="en-US" sz="1500" dirty="0">
                <a:solidFill>
                  <a:srgbClr val="2E3A3A"/>
                </a:solidFill>
                <a:latin typeface="Calibri" pitchFamily="34" charset="0"/>
                <a:ea typeface="Calibri" pitchFamily="34" charset="-122"/>
                <a:cs typeface="Calibri" pitchFamily="34" charset="-120"/>
              </a:rPr>
              <a:t>The alt block captures the bug-fix loop, showing how a failed test triggers a report, a fix, and a retest before approval.</a:t>
            </a:r>
          </a:p>
          <a:p>
            <a:pPr marL="285750" indent="-285750">
              <a:spcBef>
                <a:spcPts val="0"/>
              </a:spcBef>
              <a:spcAft>
                <a:spcPts val="1400"/>
              </a:spcAft>
              <a:buFont typeface="Arial" pitchFamily="34" charset="0"/>
              <a:buChar char="●"/>
            </a:pPr>
            <a:r>
              <a:rPr lang="en-US" sz="1500" dirty="0">
                <a:solidFill>
                  <a:srgbClr val="2E3A3A"/>
                </a:solidFill>
                <a:latin typeface="Calibri" pitchFamily="34" charset="0"/>
                <a:ea typeface="Calibri" pitchFamily="34" charset="-122"/>
                <a:cs typeface="Calibri" pitchFamily="34" charset="-120"/>
              </a:rPr>
              <a:t>It gives the team a shared, unambiguous picture of collaboration and hand-offs across roles, useful for spotting bottlenecks or missing steps.</a:t>
            </a:r>
          </a:p>
        </p:txBody>
      </p:sp>
      <p:sp>
        <p:nvSpPr>
          <p:cNvPr id="6" name="Text 35"/>
          <p:cNvSpPr/>
          <p:nvPr/>
        </p:nvSpPr>
        <p:spPr>
          <a:xfrm>
            <a:off x="10467701" y="6272784"/>
            <a:ext cx="1097280" cy="274320"/>
          </a:xfrm>
          <a:prstGeom prst="rect">
            <a:avLst/>
          </a:prstGeom>
          <a:noFill/>
          <a:ln/>
        </p:spPr>
        <p:txBody>
          <a:bodyPr wrap="square" lIns="0" tIns="0" rIns="0" bIns="0" rtlCol="0" anchor="ctr"/>
          <a:lstStyle/>
          <a:p>
            <a:pPr marL="0" indent="0" algn="r">
              <a:buNone/>
            </a:pPr>
            <a:r>
              <a:rPr lang="en-US" sz="1000" dirty="0" smtClean="0">
                <a:solidFill>
                  <a:srgbClr val="6B7A79"/>
                </a:solidFill>
                <a:latin typeface="Calibri" pitchFamily="34" charset="0"/>
                <a:ea typeface="Calibri" pitchFamily="34" charset="-122"/>
                <a:cs typeface="Calibri" pitchFamily="34" charset="-120"/>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marL="0" indent="0" algn="l">
              <a:buNone/>
            </a:pPr>
            <a:r>
              <a:rPr lang="en-US" sz="3200" b="1" dirty="0">
                <a:solidFill>
                  <a:srgbClr val="1F6F6B"/>
                </a:solidFill>
                <a:latin typeface="Cambria" pitchFamily="34" charset="0"/>
                <a:ea typeface="Cambria" pitchFamily="34" charset="-122"/>
                <a:cs typeface="Cambria" pitchFamily="34" charset="-120"/>
              </a:rPr>
              <a:t>Sequence Diagram</a:t>
            </a:r>
            <a:endParaRPr lang="en-US" sz="3200" dirty="0"/>
          </a:p>
        </p:txBody>
      </p:sp>
      <p:sp>
        <p:nvSpPr>
          <p:cNvPr id="3" name="Card"/>
          <p:cNvSpPr/>
          <p:nvPr/>
        </p:nvSpPr>
        <p:spPr>
          <a:xfrm>
            <a:off x="2831990" y="1371600"/>
            <a:ext cx="6528021" cy="4846320"/>
          </a:xfrm>
          <a:prstGeom prst="roundRect">
            <a:avLst>
              <a:gd name="adj" fmla="val 1633"/>
            </a:avLst>
          </a:prstGeom>
          <a:solidFill>
            <a:srgbClr val="FFFFFF"/>
          </a:solidFill>
          <a:ln w="12700">
            <a:solidFill>
              <a:srgbClr val="DFDBD2"/>
            </a:solidFill>
            <a:prstDash val="solid"/>
          </a:ln>
          <a:effectLst>
            <a:outerShdw blurRad="76200" dist="12700" dir="5400000" algn="bl" rotWithShape="0">
              <a:srgbClr val="9A948A">
                <a:alpha val="18000"/>
              </a:srgbClr>
            </a:outerShdw>
          </a:effectLst>
        </p:spPr>
      </p:sp>
      <p:pic>
        <p:nvPicPr>
          <p:cNvPr id="4" name="Diagram Image" descr="diagram.png"/>
          <p:cNvPicPr>
            <a:picLocks noChangeAspect="1"/>
          </p:cNvPicPr>
          <p:nvPr/>
        </p:nvPicPr>
        <p:blipFill>
          <a:blip r:embed="rId2"/>
          <a:stretch>
            <a:fillRect/>
          </a:stretch>
        </p:blipFill>
        <p:spPr>
          <a:xfrm>
            <a:off x="3106310" y="1645920"/>
            <a:ext cx="5979381" cy="4297680"/>
          </a:xfrm>
          <a:prstGeom prst="rect">
            <a:avLst/>
          </a:prstGeom>
        </p:spPr>
      </p:pic>
      <p:sp>
        <p:nvSpPr>
          <p:cNvPr id="5" name="Text 35"/>
          <p:cNvSpPr/>
          <p:nvPr/>
        </p:nvSpPr>
        <p:spPr>
          <a:xfrm>
            <a:off x="10467701" y="6272784"/>
            <a:ext cx="1097280" cy="274320"/>
          </a:xfrm>
          <a:prstGeom prst="rect">
            <a:avLst/>
          </a:prstGeom>
          <a:noFill/>
          <a:ln/>
        </p:spPr>
        <p:txBody>
          <a:bodyPr wrap="square" lIns="0" tIns="0" rIns="0" bIns="0" rtlCol="0" anchor="ctr"/>
          <a:lstStyle/>
          <a:p>
            <a:pPr marL="0" indent="0" algn="r">
              <a:buNone/>
            </a:pPr>
            <a:r>
              <a:rPr lang="en-US" sz="1000" dirty="0" smtClean="0">
                <a:solidFill>
                  <a:srgbClr val="6B7A79"/>
                </a:solidFill>
                <a:latin typeface="Calibri" pitchFamily="34" charset="0"/>
                <a:ea typeface="Calibri" pitchFamily="34" charset="-122"/>
                <a:cs typeface="Calibri" pitchFamily="34" charset="-120"/>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marL="0" indent="0" algn="l">
              <a:buNone/>
            </a:pPr>
            <a:r>
              <a:rPr lang="en-US" sz="3200" b="1" dirty="0">
                <a:solidFill>
                  <a:srgbClr val="1F6F6B"/>
                </a:solidFill>
                <a:latin typeface="Cambria" pitchFamily="34" charset="0"/>
                <a:ea typeface="Cambria" pitchFamily="34" charset="-122"/>
                <a:cs typeface="Cambria" pitchFamily="34" charset="-120"/>
              </a:rPr>
              <a:t>Activity Diagram</a:t>
            </a:r>
            <a:endParaRPr lang="en-US" sz="3200" dirty="0"/>
          </a:p>
        </p:txBody>
      </p:sp>
      <p:sp>
        <p:nvSpPr>
          <p:cNvPr id="3" name="Text 1"/>
          <p:cNvSpPr/>
          <p:nvPr/>
        </p:nvSpPr>
        <p:spPr>
          <a:xfrm>
            <a:off x="548640" y="950976"/>
            <a:ext cx="11094415" cy="310896"/>
          </a:xfrm>
          <a:prstGeom prst="rect">
            <a:avLst/>
          </a:prstGeom>
          <a:noFill/>
          <a:ln/>
        </p:spPr>
        <p:txBody>
          <a:bodyPr wrap="square" lIns="0" tIns="0" rIns="0" bIns="0" rtlCol="0" anchor="ctr"/>
          <a:lstStyle/>
          <a:p>
            <a:pPr marL="0" indent="0" algn="l">
              <a:buNone/>
            </a:pPr>
            <a:r>
              <a:rPr lang="en-US" sz="1400" i="1" dirty="0">
                <a:solidFill>
                  <a:srgbClr val="6B7A79"/>
                </a:solidFill>
                <a:latin typeface="Calibri" pitchFamily="34" charset="0"/>
                <a:ea typeface="Calibri" pitchFamily="34" charset="-122"/>
                <a:cs typeface="Calibri" pitchFamily="34" charset="-120"/>
              </a:rPr>
              <a:t>The end-to-end workflow from login to release, phase by phase.</a:t>
            </a:r>
            <a:endParaRPr lang="en-US" sz="1400" dirty="0"/>
          </a:p>
        </p:txBody>
      </p:sp>
      <p:sp>
        <p:nvSpPr>
          <p:cNvPr id="4" name="Card"/>
          <p:cNvSpPr/>
          <p:nvPr/>
        </p:nvSpPr>
        <p:spPr>
          <a:xfrm>
            <a:off x="548640" y="1481328"/>
            <a:ext cx="11094415" cy="4828032"/>
          </a:xfrm>
          <a:prstGeom prst="roundRect">
            <a:avLst>
              <a:gd name="adj" fmla="val 1633"/>
            </a:avLst>
          </a:prstGeom>
          <a:solidFill>
            <a:srgbClr val="FFFFFF"/>
          </a:solidFill>
          <a:ln w="12700">
            <a:solidFill>
              <a:srgbClr val="DFDBD2"/>
            </a:solidFill>
            <a:prstDash val="solid"/>
          </a:ln>
          <a:effectLst>
            <a:outerShdw blurRad="76200" dist="12700" dir="5400000" algn="bl" rotWithShape="0">
              <a:srgbClr val="9A948A">
                <a:alpha val="18000"/>
              </a:srgbClr>
            </a:outerShdw>
          </a:effectLst>
        </p:spPr>
      </p:sp>
      <p:sp>
        <p:nvSpPr>
          <p:cNvPr id="5" name="Bullets"/>
          <p:cNvSpPr/>
          <p:nvPr/>
        </p:nvSpPr>
        <p:spPr>
          <a:xfrm>
            <a:off x="1051560" y="1938528"/>
            <a:ext cx="10088575" cy="3913632"/>
          </a:xfrm>
          <a:prstGeom prst="rect">
            <a:avLst/>
          </a:prstGeom>
          <a:noFill/>
          <a:ln/>
        </p:spPr>
        <p:txBody>
          <a:bodyPr wrap="square" lIns="0" tIns="0" rIns="0" bIns="0" rtlCol="0" anchor="ctr"/>
          <a:lstStyle/>
          <a:p>
            <a:pPr marL="285750" indent="-285750">
              <a:spcBef>
                <a:spcPts val="0"/>
              </a:spcBef>
              <a:spcAft>
                <a:spcPts val="1400"/>
              </a:spcAft>
              <a:buFont typeface="Arial" pitchFamily="34" charset="0"/>
              <a:buChar char="●"/>
            </a:pPr>
            <a:r>
              <a:rPr lang="en-US" sz="1500" dirty="0">
                <a:solidFill>
                  <a:srgbClr val="2E3A3A"/>
                </a:solidFill>
                <a:latin typeface="Calibri" pitchFamily="34" charset="0"/>
                <a:ea typeface="Calibri" pitchFamily="34" charset="-122"/>
                <a:cs typeface="Calibri" pitchFamily="34" charset="-120"/>
              </a:rPr>
              <a:t>An activity diagram models workflow logic — the sequence of actions, decision points, and looping paths a process can take.</a:t>
            </a:r>
          </a:p>
          <a:p>
            <a:pPr marL="285750" indent="-285750">
              <a:spcBef>
                <a:spcPts val="0"/>
              </a:spcBef>
              <a:spcAft>
                <a:spcPts val="1400"/>
              </a:spcAft>
              <a:buFont typeface="Arial" pitchFamily="34" charset="0"/>
              <a:buChar char="●"/>
            </a:pPr>
            <a:r>
              <a:rPr lang="en-US" sz="1500" dirty="0">
                <a:solidFill>
                  <a:srgbClr val="2E3A3A"/>
                </a:solidFill>
                <a:latin typeface="Calibri" pitchFamily="34" charset="0"/>
                <a:ea typeface="Calibri" pitchFamily="34" charset="-122"/>
                <a:cs typeface="Calibri" pitchFamily="34" charset="-120"/>
              </a:rPr>
              <a:t>It lays out the full SDLC as a swimlane flow: Authentication, Planning, Design, Development, Testing, Deployment, and Maintenance.</a:t>
            </a:r>
          </a:p>
          <a:p>
            <a:pPr marL="285750" indent="-285750">
              <a:spcBef>
                <a:spcPts val="0"/>
              </a:spcBef>
              <a:spcAft>
                <a:spcPts val="1400"/>
              </a:spcAft>
              <a:buFont typeface="Arial" pitchFamily="34" charset="0"/>
              <a:buChar char="●"/>
            </a:pPr>
            <a:r>
              <a:rPr lang="en-US" sz="1500" dirty="0">
                <a:solidFill>
                  <a:srgbClr val="2E3A3A"/>
                </a:solidFill>
                <a:latin typeface="Calibri" pitchFamily="34" charset="0"/>
                <a:ea typeface="Calibri" pitchFamily="34" charset="-122"/>
                <a:cs typeface="Calibri" pitchFamily="34" charset="-120"/>
              </a:rPr>
              <a:t>Decision diamonds capture real branching logic, such as invalid login retries, bug-found loops, and rollback-on-failure during deployment.</a:t>
            </a:r>
          </a:p>
          <a:p>
            <a:pPr marL="285750" indent="-285750">
              <a:spcBef>
                <a:spcPts val="0"/>
              </a:spcBef>
              <a:spcAft>
                <a:spcPts val="1400"/>
              </a:spcAft>
              <a:buFont typeface="Arial" pitchFamily="34" charset="0"/>
              <a:buChar char="●"/>
            </a:pPr>
            <a:r>
              <a:rPr lang="en-US" sz="1500" dirty="0">
                <a:solidFill>
                  <a:srgbClr val="2E3A3A"/>
                </a:solidFill>
                <a:latin typeface="Calibri" pitchFamily="34" charset="0"/>
                <a:ea typeface="Calibri" pitchFamily="34" charset="-122"/>
                <a:cs typeface="Calibri" pitchFamily="34" charset="-120"/>
              </a:rPr>
              <a:t>AI-assisted steps are visually distinguished, showing exactly where automation feeds into each phase before a human reviews or approves the result.</a:t>
            </a:r>
          </a:p>
          <a:p>
            <a:pPr marL="285750" indent="-285750">
              <a:spcBef>
                <a:spcPts val="0"/>
              </a:spcBef>
              <a:spcAft>
                <a:spcPts val="1400"/>
              </a:spcAft>
              <a:buFont typeface="Arial" pitchFamily="34" charset="0"/>
              <a:buChar char="●"/>
            </a:pPr>
            <a:r>
              <a:rPr lang="en-US" sz="1500" dirty="0">
                <a:solidFill>
                  <a:srgbClr val="2E3A3A"/>
                </a:solidFill>
                <a:latin typeface="Calibri" pitchFamily="34" charset="0"/>
                <a:ea typeface="Calibri" pitchFamily="34" charset="-122"/>
                <a:cs typeface="Calibri" pitchFamily="34" charset="-120"/>
              </a:rPr>
              <a:t>It is the primary reference for onboarding new team members to how work actually moves through the platform.</a:t>
            </a:r>
          </a:p>
        </p:txBody>
      </p:sp>
      <p:sp>
        <p:nvSpPr>
          <p:cNvPr id="6" name="Text 35"/>
          <p:cNvSpPr/>
          <p:nvPr/>
        </p:nvSpPr>
        <p:spPr>
          <a:xfrm>
            <a:off x="10467701" y="6272784"/>
            <a:ext cx="1097280" cy="274320"/>
          </a:xfrm>
          <a:prstGeom prst="rect">
            <a:avLst/>
          </a:prstGeom>
          <a:noFill/>
          <a:ln/>
        </p:spPr>
        <p:txBody>
          <a:bodyPr wrap="square" lIns="0" tIns="0" rIns="0" bIns="0" rtlCol="0" anchor="ctr"/>
          <a:lstStyle/>
          <a:p>
            <a:pPr marL="0" indent="0" algn="r">
              <a:buNone/>
            </a:pPr>
            <a:r>
              <a:rPr lang="en-US" sz="1000" dirty="0" smtClean="0">
                <a:solidFill>
                  <a:srgbClr val="6B7A79"/>
                </a:solidFill>
                <a:latin typeface="Calibri" pitchFamily="34" charset="0"/>
                <a:ea typeface="Calibri" pitchFamily="34" charset="-122"/>
                <a:cs typeface="Calibri" pitchFamily="34" charset="-120"/>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marL="0" indent="0" algn="l">
              <a:buNone/>
            </a:pPr>
            <a:r>
              <a:rPr lang="en-US" sz="3200" b="1" dirty="0">
                <a:solidFill>
                  <a:srgbClr val="1F6F6B"/>
                </a:solidFill>
                <a:latin typeface="Cambria" pitchFamily="34" charset="0"/>
                <a:ea typeface="Cambria" pitchFamily="34" charset="-122"/>
                <a:cs typeface="Cambria" pitchFamily="34" charset="-120"/>
              </a:rPr>
              <a:t>Activity Diagram</a:t>
            </a:r>
            <a:endParaRPr lang="en-US" sz="3200" dirty="0"/>
          </a:p>
        </p:txBody>
      </p:sp>
      <p:sp>
        <p:nvSpPr>
          <p:cNvPr id="3" name="Card"/>
          <p:cNvSpPr/>
          <p:nvPr/>
        </p:nvSpPr>
        <p:spPr>
          <a:xfrm>
            <a:off x="3273376" y="1371600"/>
            <a:ext cx="5645248" cy="4846320"/>
          </a:xfrm>
          <a:prstGeom prst="roundRect">
            <a:avLst>
              <a:gd name="adj" fmla="val 1633"/>
            </a:avLst>
          </a:prstGeom>
          <a:solidFill>
            <a:srgbClr val="FFFFFF"/>
          </a:solidFill>
          <a:ln w="12700">
            <a:solidFill>
              <a:srgbClr val="DFDBD2"/>
            </a:solidFill>
            <a:prstDash val="solid"/>
          </a:ln>
          <a:effectLst>
            <a:outerShdw blurRad="76200" dist="12700" dir="5400000" algn="bl" rotWithShape="0">
              <a:srgbClr val="9A948A">
                <a:alpha val="18000"/>
              </a:srgbClr>
            </a:outerShdw>
          </a:effectLst>
        </p:spPr>
      </p:sp>
      <p:pic>
        <p:nvPicPr>
          <p:cNvPr id="4" name="Diagram Image" descr="diagram.png"/>
          <p:cNvPicPr>
            <a:picLocks noChangeAspect="1"/>
          </p:cNvPicPr>
          <p:nvPr/>
        </p:nvPicPr>
        <p:blipFill>
          <a:blip r:embed="rId2"/>
          <a:stretch>
            <a:fillRect/>
          </a:stretch>
        </p:blipFill>
        <p:spPr>
          <a:xfrm>
            <a:off x="3547696" y="1645920"/>
            <a:ext cx="5096608" cy="4297680"/>
          </a:xfrm>
          <a:prstGeom prst="rect">
            <a:avLst/>
          </a:prstGeom>
        </p:spPr>
      </p:pic>
      <p:sp>
        <p:nvSpPr>
          <p:cNvPr id="5" name="Text 35"/>
          <p:cNvSpPr/>
          <p:nvPr/>
        </p:nvSpPr>
        <p:spPr>
          <a:xfrm>
            <a:off x="10467701" y="6272784"/>
            <a:ext cx="1097280" cy="274320"/>
          </a:xfrm>
          <a:prstGeom prst="rect">
            <a:avLst/>
          </a:prstGeom>
          <a:noFill/>
          <a:ln/>
        </p:spPr>
        <p:txBody>
          <a:bodyPr wrap="square" lIns="0" tIns="0" rIns="0" bIns="0" rtlCol="0" anchor="ctr"/>
          <a:lstStyle/>
          <a:p>
            <a:pPr marL="0" indent="0" algn="r">
              <a:buNone/>
            </a:pPr>
            <a:r>
              <a:rPr lang="en-US" sz="1000" dirty="0" smtClean="0">
                <a:solidFill>
                  <a:srgbClr val="6B7A79"/>
                </a:solidFill>
                <a:latin typeface="Calibri" pitchFamily="34" charset="0"/>
                <a:ea typeface="Calibri" pitchFamily="34" charset="-122"/>
                <a:cs typeface="Calibri" pitchFamily="34" charset="-120"/>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marL="0" indent="0" algn="l">
              <a:buNone/>
            </a:pPr>
            <a:r>
              <a:rPr lang="en-US" sz="3200" b="1" dirty="0">
                <a:solidFill>
                  <a:srgbClr val="1F6F6B"/>
                </a:solidFill>
                <a:latin typeface="Cambria" pitchFamily="34" charset="0"/>
                <a:ea typeface="Cambria" pitchFamily="34" charset="-122"/>
                <a:cs typeface="Cambria" pitchFamily="34" charset="-120"/>
              </a:rPr>
              <a:t>ER Diagram</a:t>
            </a:r>
            <a:endParaRPr lang="en-US" sz="3200" dirty="0"/>
          </a:p>
        </p:txBody>
      </p:sp>
      <p:sp>
        <p:nvSpPr>
          <p:cNvPr id="3" name="Text 1"/>
          <p:cNvSpPr/>
          <p:nvPr/>
        </p:nvSpPr>
        <p:spPr>
          <a:xfrm>
            <a:off x="548640" y="950976"/>
            <a:ext cx="11094415" cy="310896"/>
          </a:xfrm>
          <a:prstGeom prst="rect">
            <a:avLst/>
          </a:prstGeom>
          <a:noFill/>
          <a:ln/>
        </p:spPr>
        <p:txBody>
          <a:bodyPr wrap="square" lIns="0" tIns="0" rIns="0" bIns="0" rtlCol="0" anchor="ctr"/>
          <a:lstStyle/>
          <a:p>
            <a:pPr marL="0" indent="0" algn="l">
              <a:buNone/>
            </a:pPr>
            <a:r>
              <a:rPr lang="en-US" sz="1400" i="1" dirty="0">
                <a:solidFill>
                  <a:srgbClr val="6B7A79"/>
                </a:solidFill>
                <a:latin typeface="Calibri" pitchFamily="34" charset="0"/>
                <a:ea typeface="Calibri" pitchFamily="34" charset="-122"/>
                <a:cs typeface="Calibri" pitchFamily="34" charset="-120"/>
              </a:rPr>
              <a:t>The relational database structure behind the platform.</a:t>
            </a:r>
            <a:endParaRPr lang="en-US" sz="1400" dirty="0"/>
          </a:p>
        </p:txBody>
      </p:sp>
      <p:sp>
        <p:nvSpPr>
          <p:cNvPr id="4" name="Card"/>
          <p:cNvSpPr/>
          <p:nvPr/>
        </p:nvSpPr>
        <p:spPr>
          <a:xfrm>
            <a:off x="548640" y="1481328"/>
            <a:ext cx="11094415" cy="4828032"/>
          </a:xfrm>
          <a:prstGeom prst="roundRect">
            <a:avLst>
              <a:gd name="adj" fmla="val 1633"/>
            </a:avLst>
          </a:prstGeom>
          <a:solidFill>
            <a:srgbClr val="FFFFFF"/>
          </a:solidFill>
          <a:ln w="12700">
            <a:solidFill>
              <a:srgbClr val="DFDBD2"/>
            </a:solidFill>
            <a:prstDash val="solid"/>
          </a:ln>
          <a:effectLst>
            <a:outerShdw blurRad="76200" dist="12700" dir="5400000" algn="bl" rotWithShape="0">
              <a:srgbClr val="9A948A">
                <a:alpha val="18000"/>
              </a:srgbClr>
            </a:outerShdw>
          </a:effectLst>
        </p:spPr>
      </p:sp>
      <p:sp>
        <p:nvSpPr>
          <p:cNvPr id="5" name="Bullets"/>
          <p:cNvSpPr/>
          <p:nvPr/>
        </p:nvSpPr>
        <p:spPr>
          <a:xfrm>
            <a:off x="1051560" y="1938528"/>
            <a:ext cx="10088575" cy="3913632"/>
          </a:xfrm>
          <a:prstGeom prst="rect">
            <a:avLst/>
          </a:prstGeom>
          <a:noFill/>
          <a:ln/>
        </p:spPr>
        <p:txBody>
          <a:bodyPr wrap="square" lIns="0" tIns="0" rIns="0" bIns="0" rtlCol="0" anchor="ctr"/>
          <a:lstStyle/>
          <a:p>
            <a:pPr marL="285750" indent="-285750">
              <a:spcBef>
                <a:spcPts val="0"/>
              </a:spcBef>
              <a:spcAft>
                <a:spcPts val="1400"/>
              </a:spcAft>
              <a:buFont typeface="Arial" pitchFamily="34" charset="0"/>
              <a:buChar char="●"/>
            </a:pPr>
            <a:r>
              <a:rPr lang="en-US" sz="1500" dirty="0">
                <a:solidFill>
                  <a:srgbClr val="2E3A3A"/>
                </a:solidFill>
                <a:latin typeface="Calibri" pitchFamily="34" charset="0"/>
                <a:ea typeface="Calibri" pitchFamily="34" charset="-122"/>
                <a:cs typeface="Calibri" pitchFamily="34" charset="-120"/>
              </a:rPr>
              <a:t>An entity-relationship diagram documents a database's tables, their columns, and the keys and relationships that connect them.</a:t>
            </a:r>
          </a:p>
          <a:p>
            <a:pPr marL="285750" indent="-285750">
              <a:spcBef>
                <a:spcPts val="0"/>
              </a:spcBef>
              <a:spcAft>
                <a:spcPts val="1400"/>
              </a:spcAft>
              <a:buFont typeface="Arial" pitchFamily="34" charset="0"/>
              <a:buChar char="●"/>
            </a:pPr>
            <a:r>
              <a:rPr lang="en-US" sz="1500" dirty="0">
                <a:solidFill>
                  <a:srgbClr val="2E3A3A"/>
                </a:solidFill>
                <a:latin typeface="Calibri" pitchFamily="34" charset="0"/>
                <a:ea typeface="Calibri" pitchFamily="34" charset="-122"/>
                <a:cs typeface="Calibri" pitchFamily="34" charset="-120"/>
              </a:rPr>
              <a:t>It defines every core table — Projects, Users, Requirements, UserStories, Tasks, Sprints, TestCases, Bugs, Deployments, and more — with primary and foreign keys.</a:t>
            </a:r>
          </a:p>
          <a:p>
            <a:pPr marL="285750" indent="-285750">
              <a:spcBef>
                <a:spcPts val="0"/>
              </a:spcBef>
              <a:spcAft>
                <a:spcPts val="1400"/>
              </a:spcAft>
              <a:buFont typeface="Arial" pitchFamily="34" charset="0"/>
              <a:buChar char="●"/>
            </a:pPr>
            <a:r>
              <a:rPr lang="en-US" sz="1500" dirty="0">
                <a:solidFill>
                  <a:srgbClr val="2E3A3A"/>
                </a:solidFill>
                <a:latin typeface="Calibri" pitchFamily="34" charset="0"/>
                <a:ea typeface="Calibri" pitchFamily="34" charset="-122"/>
                <a:cs typeface="Calibri" pitchFamily="34" charset="-120"/>
              </a:rPr>
              <a:t>It captures audit and traceability fields, such as CreatedByUserID, ModifiedAt, and RowVersion, applied consistently across tables for accountability and concurrency control.</a:t>
            </a:r>
          </a:p>
          <a:p>
            <a:pPr marL="285750" indent="-285750">
              <a:spcBef>
                <a:spcPts val="0"/>
              </a:spcBef>
              <a:spcAft>
                <a:spcPts val="1400"/>
              </a:spcAft>
              <a:buFont typeface="Arial" pitchFamily="34" charset="0"/>
              <a:buChar char="●"/>
            </a:pPr>
            <a:r>
              <a:rPr lang="en-US" sz="1500" dirty="0">
                <a:solidFill>
                  <a:srgbClr val="2E3A3A"/>
                </a:solidFill>
                <a:latin typeface="Calibri" pitchFamily="34" charset="0"/>
                <a:ea typeface="Calibri" pitchFamily="34" charset="-122"/>
                <a:cs typeface="Calibri" pitchFamily="34" charset="-120"/>
              </a:rPr>
              <a:t>Role-based access is modeled explicitly through Roles, RolePermissions, and ProjectMembers, tying permissions to modules and projects.</a:t>
            </a:r>
          </a:p>
          <a:p>
            <a:pPr marL="285750" indent="-285750">
              <a:spcBef>
                <a:spcPts val="0"/>
              </a:spcBef>
              <a:spcAft>
                <a:spcPts val="1400"/>
              </a:spcAft>
              <a:buFont typeface="Arial" pitchFamily="34" charset="0"/>
              <a:buChar char="●"/>
            </a:pPr>
            <a:r>
              <a:rPr lang="en-US" sz="1500" dirty="0">
                <a:solidFill>
                  <a:srgbClr val="2E3A3A"/>
                </a:solidFill>
                <a:latin typeface="Calibri" pitchFamily="34" charset="0"/>
                <a:ea typeface="Calibri" pitchFamily="34" charset="-122"/>
                <a:cs typeface="Calibri" pitchFamily="34" charset="-120"/>
              </a:rPr>
              <a:t>This diagram is the direct source for generating and reviewing the physical database schema.</a:t>
            </a:r>
          </a:p>
        </p:txBody>
      </p:sp>
      <p:sp>
        <p:nvSpPr>
          <p:cNvPr id="6" name="Text 35"/>
          <p:cNvSpPr/>
          <p:nvPr/>
        </p:nvSpPr>
        <p:spPr>
          <a:xfrm>
            <a:off x="10467701" y="6272784"/>
            <a:ext cx="1097280" cy="274320"/>
          </a:xfrm>
          <a:prstGeom prst="rect">
            <a:avLst/>
          </a:prstGeom>
          <a:noFill/>
          <a:ln/>
        </p:spPr>
        <p:txBody>
          <a:bodyPr wrap="square" lIns="0" tIns="0" rIns="0" bIns="0" rtlCol="0" anchor="ctr"/>
          <a:lstStyle/>
          <a:p>
            <a:pPr marL="0" indent="0" algn="r">
              <a:buNone/>
            </a:pPr>
            <a:r>
              <a:rPr lang="en-US" sz="1000" dirty="0" smtClean="0">
                <a:solidFill>
                  <a:srgbClr val="6B7A79"/>
                </a:solidFill>
                <a:latin typeface="Calibri" pitchFamily="34" charset="0"/>
                <a:ea typeface="Calibri" pitchFamily="34" charset="-122"/>
                <a:cs typeface="Calibri" pitchFamily="34" charset="-120"/>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marL="0" indent="0" algn="l">
              <a:buNone/>
            </a:pPr>
            <a:r>
              <a:rPr lang="en-US" sz="3200" b="1" dirty="0">
                <a:solidFill>
                  <a:srgbClr val="1F6F6B"/>
                </a:solidFill>
                <a:latin typeface="Cambria" pitchFamily="34" charset="0"/>
                <a:ea typeface="Cambria" pitchFamily="34" charset="-122"/>
                <a:cs typeface="Cambria" pitchFamily="34" charset="-120"/>
              </a:rPr>
              <a:t>ER Diagram</a:t>
            </a:r>
            <a:endParaRPr lang="en-US" sz="3200" dirty="0"/>
          </a:p>
        </p:txBody>
      </p:sp>
      <p:sp>
        <p:nvSpPr>
          <p:cNvPr id="3" name="Card"/>
          <p:cNvSpPr/>
          <p:nvPr/>
        </p:nvSpPr>
        <p:spPr>
          <a:xfrm>
            <a:off x="1297806" y="1371600"/>
            <a:ext cx="9596387" cy="4846320"/>
          </a:xfrm>
          <a:prstGeom prst="roundRect">
            <a:avLst>
              <a:gd name="adj" fmla="val 1633"/>
            </a:avLst>
          </a:prstGeom>
          <a:solidFill>
            <a:srgbClr val="FFFFFF"/>
          </a:solidFill>
          <a:ln w="12700">
            <a:solidFill>
              <a:srgbClr val="DFDBD2"/>
            </a:solidFill>
            <a:prstDash val="solid"/>
          </a:ln>
          <a:effectLst>
            <a:outerShdw blurRad="76200" dist="12700" dir="5400000" algn="bl" rotWithShape="0">
              <a:srgbClr val="9A948A">
                <a:alpha val="18000"/>
              </a:srgbClr>
            </a:outerShdw>
          </a:effectLst>
        </p:spPr>
      </p:sp>
      <p:pic>
        <p:nvPicPr>
          <p:cNvPr id="4" name="Diagram Image" descr="diagram.png"/>
          <p:cNvPicPr>
            <a:picLocks noChangeAspect="1"/>
          </p:cNvPicPr>
          <p:nvPr/>
        </p:nvPicPr>
        <p:blipFill>
          <a:blip r:embed="rId2"/>
          <a:stretch>
            <a:fillRect/>
          </a:stretch>
        </p:blipFill>
        <p:spPr>
          <a:xfrm>
            <a:off x="1572126" y="1645920"/>
            <a:ext cx="9047747" cy="4297680"/>
          </a:xfrm>
          <a:prstGeom prst="rect">
            <a:avLst/>
          </a:prstGeom>
        </p:spPr>
      </p:pic>
      <p:sp>
        <p:nvSpPr>
          <p:cNvPr id="5" name="Text 35"/>
          <p:cNvSpPr/>
          <p:nvPr/>
        </p:nvSpPr>
        <p:spPr>
          <a:xfrm>
            <a:off x="10467701" y="6272784"/>
            <a:ext cx="1097280" cy="274320"/>
          </a:xfrm>
          <a:prstGeom prst="rect">
            <a:avLst/>
          </a:prstGeom>
          <a:noFill/>
          <a:ln/>
        </p:spPr>
        <p:txBody>
          <a:bodyPr wrap="square" lIns="0" tIns="0" rIns="0" bIns="0" rtlCol="0" anchor="ctr"/>
          <a:lstStyle/>
          <a:p>
            <a:pPr marL="0" indent="0" algn="r">
              <a:buNone/>
            </a:pPr>
            <a:r>
              <a:rPr lang="en-US" sz="1000" dirty="0" smtClean="0">
                <a:solidFill>
                  <a:srgbClr val="6B7A79"/>
                </a:solidFill>
                <a:latin typeface="Calibri" pitchFamily="34" charset="0"/>
                <a:ea typeface="Calibri" pitchFamily="34" charset="-122"/>
                <a:cs typeface="Calibri" pitchFamily="34" charset="-120"/>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154C49"/>
        </a:solidFill>
        <a:effectLst/>
      </p:bgPr>
    </p:bg>
    <p:spTree>
      <p:nvGrpSpPr>
        <p:cNvPr id="1" name=""/>
        <p:cNvGrpSpPr/>
        <p:nvPr/>
      </p:nvGrpSpPr>
      <p:grpSpPr>
        <a:xfrm>
          <a:off x="0" y="0"/>
          <a:ext cx="0" cy="0"/>
          <a:chOff x="0" y="0"/>
          <a:chExt cx="0" cy="0"/>
        </a:xfrm>
      </p:grpSpPr>
      <p:sp>
        <p:nvSpPr>
          <p:cNvPr id="2" name="Shape 0"/>
          <p:cNvSpPr/>
          <p:nvPr/>
        </p:nvSpPr>
        <p:spPr>
          <a:xfrm>
            <a:off x="-1463040" y="3840480"/>
            <a:ext cx="4937760" cy="4937760"/>
          </a:xfrm>
          <a:prstGeom prst="ellipse">
            <a:avLst/>
          </a:prstGeom>
          <a:solidFill>
            <a:srgbClr val="1F6F6B"/>
          </a:solidFill>
          <a:ln w="12700">
            <a:solidFill>
              <a:srgbClr val="333333"/>
            </a:solidFill>
            <a:prstDash val="solid"/>
          </a:ln>
        </p:spPr>
      </p:sp>
      <p:sp>
        <p:nvSpPr>
          <p:cNvPr id="3" name="Shape 1"/>
          <p:cNvSpPr/>
          <p:nvPr/>
        </p:nvSpPr>
        <p:spPr>
          <a:xfrm>
            <a:off x="10424160" y="-1280160"/>
            <a:ext cx="3291840" cy="3291840"/>
          </a:xfrm>
          <a:prstGeom prst="ellipse">
            <a:avLst/>
          </a:prstGeom>
          <a:solidFill>
            <a:srgbClr val="C97B3C"/>
          </a:solidFill>
          <a:ln w="12700">
            <a:solidFill>
              <a:srgbClr val="333333"/>
            </a:solidFill>
            <a:prstDash val="solid"/>
          </a:ln>
        </p:spPr>
      </p:sp>
      <p:sp>
        <p:nvSpPr>
          <p:cNvPr id="4" name="Text 2"/>
          <p:cNvSpPr/>
          <p:nvPr/>
        </p:nvSpPr>
        <p:spPr>
          <a:xfrm>
            <a:off x="548640" y="1325880"/>
            <a:ext cx="11094415" cy="64008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Conclusion</a:t>
            </a:r>
            <a:endParaRPr lang="en-US" sz="4000" dirty="0"/>
          </a:p>
        </p:txBody>
      </p:sp>
      <p:sp>
        <p:nvSpPr>
          <p:cNvPr id="5" name="Text 3"/>
          <p:cNvSpPr/>
          <p:nvPr/>
        </p:nvSpPr>
        <p:spPr>
          <a:xfrm>
            <a:off x="548640" y="2148840"/>
            <a:ext cx="8138160" cy="1737360"/>
          </a:xfrm>
          <a:prstGeom prst="rect">
            <a:avLst/>
          </a:prstGeom>
          <a:noFill/>
          <a:ln/>
        </p:spPr>
        <p:txBody>
          <a:bodyPr wrap="square" lIns="0" tIns="0" rIns="0" bIns="0" rtlCol="0" anchor="ctr"/>
          <a:lstStyle/>
          <a:p>
            <a:pPr marL="0" indent="0" algn="just">
              <a:lnSpc>
                <a:spcPts val="2600"/>
              </a:lnSpc>
              <a:buNone/>
            </a:pPr>
            <a:r>
              <a:rPr lang="en-US" sz="1650" dirty="0">
                <a:solidFill>
                  <a:srgbClr val="D9E5E3"/>
                </a:solidFill>
                <a:latin typeface="Calibri" pitchFamily="34" charset="0"/>
                <a:ea typeface="Calibri" pitchFamily="34" charset="-122"/>
                <a:cs typeface="Calibri" pitchFamily="34" charset="-120"/>
              </a:rPr>
              <a:t>NeuroForge brings the full Software Development Life Cycle into a single governed workspace and applies AI at every stage of it. Requirements become user stories, user stories become code and test cases, and every build is deployed, monitored and traced back to the requirement that produced it — with less manual effort, fewer late defects and complete visibility for the whole team.</a:t>
            </a:r>
            <a:endParaRPr lang="en-US" sz="1650" dirty="0"/>
          </a:p>
        </p:txBody>
      </p:sp>
      <p:sp>
        <p:nvSpPr>
          <p:cNvPr id="14" name="Text 12"/>
          <p:cNvSpPr/>
          <p:nvPr/>
        </p:nvSpPr>
        <p:spPr>
          <a:xfrm>
            <a:off x="548640" y="5440680"/>
            <a:ext cx="11094415" cy="54864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Thank you</a:t>
            </a:r>
            <a:endParaRPr lang="en-US" sz="2800" dirty="0"/>
          </a:p>
        </p:txBody>
      </p:sp>
      <p:sp>
        <p:nvSpPr>
          <p:cNvPr id="15" name="Text 13"/>
          <p:cNvSpPr/>
          <p:nvPr/>
        </p:nvSpPr>
        <p:spPr>
          <a:xfrm>
            <a:off x="548640" y="6272784"/>
            <a:ext cx="7315200" cy="274320"/>
          </a:xfrm>
          <a:prstGeom prst="rect">
            <a:avLst/>
          </a:prstGeom>
          <a:noFill/>
          <a:ln/>
        </p:spPr>
        <p:txBody>
          <a:bodyPr wrap="square" lIns="0" tIns="0" rIns="0" bIns="0" rtlCol="0" anchor="ctr"/>
          <a:lstStyle/>
          <a:p>
            <a:pPr marL="0" indent="0">
              <a:buNone/>
            </a:pPr>
            <a:r>
              <a:rPr lang="en-US" sz="1000" dirty="0">
                <a:solidFill>
                  <a:srgbClr val="7FA5A2"/>
                </a:solidFill>
                <a:latin typeface="Calibri" pitchFamily="34" charset="0"/>
                <a:ea typeface="Calibri" pitchFamily="34" charset="-122"/>
                <a:cs typeface="Calibri" pitchFamily="34" charset="-120"/>
              </a:rPr>
              <a:t>NeuroForge Enterprise SDLC Platform</a:t>
            </a:r>
            <a:endParaRPr lang="en-US" sz="1000" dirty="0"/>
          </a:p>
        </p:txBody>
      </p:sp>
      <p:sp>
        <p:nvSpPr>
          <p:cNvPr id="16" name="Text 14"/>
          <p:cNvSpPr/>
          <p:nvPr/>
        </p:nvSpPr>
        <p:spPr>
          <a:xfrm>
            <a:off x="10545775" y="6272784"/>
            <a:ext cx="1097280" cy="274320"/>
          </a:xfrm>
          <a:prstGeom prst="rect">
            <a:avLst/>
          </a:prstGeom>
          <a:noFill/>
          <a:ln/>
        </p:spPr>
        <p:txBody>
          <a:bodyPr wrap="square" lIns="0" tIns="0" rIns="0" bIns="0" rtlCol="0" anchor="ctr"/>
          <a:lstStyle/>
          <a:p>
            <a:pPr marL="0" indent="0" algn="r">
              <a:buNone/>
            </a:pPr>
            <a:r>
              <a:rPr lang="en-US" sz="1000" dirty="0" smtClean="0">
                <a:solidFill>
                  <a:srgbClr val="7FA5A2"/>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TotalTime>
  <Words>1604</Words>
  <Application>Microsoft Office PowerPoint</Application>
  <PresentationFormat>Widescreen</PresentationFormat>
  <Paragraphs>186</Paragraphs>
  <Slides>18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NeuroForge Enterprise SDLC Platform</dc:title>
  <dc:subject>PptxGenJS Presentation</dc:subject>
  <dc:creator>NeuroForge Team</dc:creator>
  <cp:lastModifiedBy>ASUS</cp:lastModifiedBy>
  <cp:revision>13</cp:revision>
  <dcterms:created xsi:type="dcterms:W3CDTF">2026-07-28T15:01:15Z</dcterms:created>
  <dcterms:modified xsi:type="dcterms:W3CDTF">2026-08-19T15:38:57Z</dcterms:modified>
</cp:coreProperties>
</file>